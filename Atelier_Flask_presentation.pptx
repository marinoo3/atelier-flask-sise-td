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9" r:id="rId2"/>
    <p:sldId id="277" r:id="rId3"/>
    <p:sldId id="278" r:id="rId4"/>
    <p:sldId id="310" r:id="rId5"/>
    <p:sldId id="314" r:id="rId6"/>
    <p:sldId id="311" r:id="rId7"/>
    <p:sldId id="319" r:id="rId8"/>
    <p:sldId id="320" r:id="rId9"/>
    <p:sldId id="315" r:id="rId10"/>
    <p:sldId id="317" r:id="rId11"/>
    <p:sldId id="318" r:id="rId12"/>
    <p:sldId id="301" r:id="rId13"/>
    <p:sldId id="281" r:id="rId14"/>
    <p:sldId id="283" r:id="rId15"/>
    <p:sldId id="284" r:id="rId16"/>
    <p:sldId id="321" r:id="rId17"/>
    <p:sldId id="285" r:id="rId18"/>
    <p:sldId id="322" r:id="rId19"/>
    <p:sldId id="303" r:id="rId20"/>
    <p:sldId id="304" r:id="rId21"/>
    <p:sldId id="286" r:id="rId22"/>
    <p:sldId id="296" r:id="rId23"/>
    <p:sldId id="297" r:id="rId24"/>
    <p:sldId id="287" r:id="rId25"/>
    <p:sldId id="288" r:id="rId26"/>
    <p:sldId id="289" r:id="rId27"/>
    <p:sldId id="290" r:id="rId28"/>
    <p:sldId id="291" r:id="rId29"/>
    <p:sldId id="292" r:id="rId30"/>
    <p:sldId id="325" r:id="rId31"/>
    <p:sldId id="327" r:id="rId32"/>
    <p:sldId id="293" r:id="rId33"/>
    <p:sldId id="294" r:id="rId34"/>
    <p:sldId id="323" r:id="rId35"/>
    <p:sldId id="328" r:id="rId36"/>
    <p:sldId id="329" r:id="rId37"/>
    <p:sldId id="330" r:id="rId38"/>
    <p:sldId id="331" r:id="rId39"/>
    <p:sldId id="332" r:id="rId40"/>
    <p:sldId id="333" r:id="rId41"/>
    <p:sldId id="334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443D"/>
    <a:srgbClr val="0E1820"/>
    <a:srgbClr val="EDE7E3"/>
    <a:srgbClr val="334051"/>
    <a:srgbClr val="BAC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C5278-6C8C-4E09-AF4A-0CE83E9C6A56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E49FC-D2E5-43DC-8BEE-2A98BF0CE1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1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A465F-7E3C-3CDF-3473-D792F836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D79824-A628-D481-B13F-58322E193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7C3301-1C36-7B04-51E0-2D1E406A4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FAF9CF-8C37-CBA8-5A61-C88DECE16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54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973D1-6A0F-70AF-2F8B-850D70A8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B481B6-8A13-1A45-E4F4-65D53A59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424D0E-3C8F-0C16-8C4C-C82BD824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1EF243-5EC1-8EB8-9D55-09D664D1B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856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6DA8-7D12-65DE-9923-B56B139A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160E90-0975-FAAB-82EB-D322D4BCB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C7DB95-C0AB-BE70-65A5-19A6F637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657D48-D3D4-3906-01BC-439935F26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823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A2C2-B393-BB32-6D87-633FFF43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B65AF6-C5B2-CAFD-CFB3-433F11E86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D7AE53-6B06-B151-E1EF-0D18C9C9D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2DF8F0-C5CD-7CC6-267E-9FF16CF56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40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3AE1-606E-5D17-1F1A-3216BF41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541B17-ED00-0D2F-4BAA-9F14F7953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A64E02-13F0-142E-41B2-D851E90D6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F04DA3-0C39-EB4A-2549-CA982431C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73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4485-6738-3D35-7F88-21D67D0D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1CAFBE-4F6D-3A75-84BE-79BF21514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FC434A-252C-E379-CBC4-8B2200D86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9BA0E-AEC3-319F-F764-C73892F5A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0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2FB0-6006-5A85-45CF-A26BE0EC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CBB129-0670-C037-8501-613E7B4CE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56A7FD-7A59-6B03-C7E0-BE592212A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0671C9-D0F6-1638-DC82-C2D645889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092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E49FC-D2E5-43DC-8BEE-2A98BF0CE170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82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F185E-A501-9216-7CB9-6C6FEFCCC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82883D-2D5B-2EAF-833D-62F079262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671603-1DEC-F799-4568-252F3B91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915F5-A20E-4F4A-A5DA-CC38468C4E52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C47FEF-1D7C-DA32-B586-CB750C9F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2B2F3-E395-AADD-FE29-DBA52DA2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411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1520F4-7F29-AC02-EE10-85699334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BB8614-1D7A-0C75-CABA-FC62066AA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6B85ED-645F-0F37-B8BD-416DBD0A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5502-6432-4AC1-A62A-2C948064E1FA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8D843F-B48C-E8D4-1FFA-839735D8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DF0879-C5C5-A7C1-E9BF-C8430577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86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43D0A-873E-6AF7-EB07-3555969A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BB327E-EBDC-4229-0AFB-E1C850CED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B0B361-17AF-0CAC-46EB-DD866B84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1653-F366-4A3C-8441-FDE820D98009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D8A672-5A4A-1038-19CD-91AE8617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AFDD8-DA01-7784-186D-AEFF673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24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708ED-F72A-FB11-0109-88B7BA84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546CAE-5282-815A-AF23-0D397AE54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7751FE-5FF1-2F4A-3B47-5A04556CA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CF3816-6859-C4B0-BBEE-B874E25D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2929-7FA0-4E57-9C2E-E33864AC166E}" type="datetime1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72D562-B582-5BE5-4656-F4E0EAA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3D803C-5566-F893-5DF6-5AFA5F6F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49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9CC42-A580-F50C-027D-99DBF80E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894AC-531D-FA03-B521-360A84A20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2B7B18-E19A-49BB-6FDE-2B6307010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39C47B-FC08-97CF-FB5E-AD110B1F1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AD1169-6481-A40E-7D24-C7D5D0200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DB1072-9903-415C-E470-CAE62A5B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163-FF4F-4127-8516-3FDD7CC01846}" type="datetime1">
              <a:rPr lang="fr-FR" smtClean="0"/>
              <a:t>23/02/2026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2B1FFA6-68F9-D138-29C3-ECA2E0F1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F2CEB6-D16D-BE1B-44EE-82672C9A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86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E749B-2AEF-6D43-1266-BC0012CE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E4C019-4DBB-9972-1932-7EC48A33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4253-F730-4E23-A11A-84AB489AE769}" type="datetime1">
              <a:rPr lang="fr-FR" smtClean="0"/>
              <a:t>23/02/2026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C8461B-08A8-2381-9127-939CC735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F4F1F-84F8-FDAE-FD81-D22CE45A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63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0CEFF14-33AD-0A09-0708-582FC366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1948-56EE-4829-9925-506377D12747}" type="datetime1">
              <a:rPr lang="fr-FR" smtClean="0"/>
              <a:t>23/02/2026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A6995-CF84-77E6-1D24-EA3EF938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D3827C-3797-1FE8-EA0D-BA80D106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7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02AA3-74E7-E7EA-1C0E-FBEECF4B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FDC467-B037-57BA-D71F-DC2DF266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112A9C-5396-BC20-6507-6A4EDBF6D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1A1440-7CE6-71E4-3779-17BE897E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38E8-B51B-4F71-8784-3B08F5EC18B5}" type="datetime1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D344BF-E987-B195-61C5-0D766903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FD4DB2-396B-7912-F631-B77B2E00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83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DE89F-87F0-B871-1488-F02466D5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3FB522-0A18-6994-430C-ED4A73D2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B1495F-8C57-F324-78C3-3ABCF66A1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6AF4D5-9F90-E8E7-038B-54159EC4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4861-7107-4829-9B1B-CBDF0108333F}" type="datetime1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CC1AFB-C4D1-6B9C-32CE-A0E7901C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F131B1-180B-BE62-73CD-03713D1B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42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AA25F-A956-721B-B6B6-4D2091A0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99A631-03F9-4951-06A1-80F61DF9F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A8F3FD-6799-62C0-EFD8-7BDDED07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5B78-A50B-4307-8F63-1FC526EB65E2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5741C-B1EB-C70D-EB18-C29F346E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3C7BC-F6C0-52FC-FC3C-BC125F5F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513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6731324-D991-55C0-1085-7452A89EB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EEC58B-C11F-8B37-471E-6BD122097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DB88E5-ABC8-8DED-ED6A-2D47F26C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33303-BCBC-4E35-964E-C8D9B65111CE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9E7D56-7874-0E9C-6ABE-D0B05FEE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AAF822-9FFE-406C-F9D0-FBF9A10B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24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60761E-264A-2D71-632C-6187599E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277112-DCC0-6A76-95DD-D1A3BE8B9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906D11-3661-E52A-901C-ECFB1C71B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9A271-E700-479E-82D9-2B1A6CB6DA76}" type="datetime1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E661C8-9356-699A-64AE-8CA5E56EB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F6873D-C017-B026-24E1-C1FD6E81A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827FE-4195-4009-A747-F1B995AB4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80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lask.palletsprojects.com/en/stable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rkzeug.palletsprojects.com/en/stabl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inja.palletsprojects.com/en/stabl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=bob@mynameisbob.com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lembic.sqlalchemy.org/en/latest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uv/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ruff/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gunicorn.org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F154B81-4F00-1F93-0610-B8BB1E0D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34FA3B1-7200-CE21-6FBC-C71AFABF8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99870"/>
            <a:ext cx="3093720" cy="165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14B0862-88B4-2C57-1555-66E309F54907}"/>
              </a:ext>
            </a:extLst>
          </p:cNvPr>
          <p:cNvSpPr txBox="1"/>
          <p:nvPr/>
        </p:nvSpPr>
        <p:spPr>
          <a:xfrm>
            <a:off x="2133600" y="6396335"/>
            <a:ext cx="792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sz="1800" b="0" i="0" u="none" strike="noStrike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Olivier BOROT - Axel CANO - Marin NAGY - Cyrille PECNIK</a:t>
            </a:r>
            <a:endParaRPr lang="fr-FR" b="0">
              <a:effectLst/>
            </a:endParaRPr>
          </a:p>
          <a:p>
            <a:pPr>
              <a:buNone/>
            </a:pPr>
            <a:br>
              <a:rPr lang="fr-FR"/>
            </a:b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6C10FF-1185-D9F6-667B-66D71969A7A4}"/>
              </a:ext>
            </a:extLst>
          </p:cNvPr>
          <p:cNvSpPr txBox="1"/>
          <p:nvPr/>
        </p:nvSpPr>
        <p:spPr>
          <a:xfrm>
            <a:off x="365760" y="1711762"/>
            <a:ext cx="6134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Atelier Flask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4CC4FEC-46B5-B6A8-E2E4-726B8E60F435}"/>
              </a:ext>
            </a:extLst>
          </p:cNvPr>
          <p:cNvCxnSpPr/>
          <p:nvPr/>
        </p:nvCxnSpPr>
        <p:spPr>
          <a:xfrm>
            <a:off x="365760" y="2700510"/>
            <a:ext cx="55473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CB9D1230-942D-1194-33BE-5FDE086DE58E}"/>
              </a:ext>
            </a:extLst>
          </p:cNvPr>
          <p:cNvSpPr txBox="1"/>
          <p:nvPr/>
        </p:nvSpPr>
        <p:spPr>
          <a:xfrm>
            <a:off x="487680" y="2819758"/>
            <a:ext cx="6134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Première partie : Flask et son environnement technologique</a:t>
            </a:r>
            <a:endParaRPr lang="fr-FR" sz="2800" b="1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DB2609B-10E3-1D2D-A65B-E93A40370D94}"/>
              </a:ext>
            </a:extLst>
          </p:cNvPr>
          <p:cNvSpPr txBox="1"/>
          <p:nvPr/>
        </p:nvSpPr>
        <p:spPr>
          <a:xfrm>
            <a:off x="3036570" y="5987468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sz="18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M2 SISE 2025-2026  -  24 février 2026</a:t>
            </a:r>
            <a:endParaRPr lang="fr-FR" b="0" dirty="0">
              <a:effectLst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542A01-29F6-DE0E-78E7-CCCD751D8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910" y="1060141"/>
            <a:ext cx="2781968" cy="37038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135A27-267B-0A92-4A12-84C6F39C6153}"/>
              </a:ext>
            </a:extLst>
          </p:cNvPr>
          <p:cNvSpPr/>
          <p:nvPr/>
        </p:nvSpPr>
        <p:spPr>
          <a:xfrm>
            <a:off x="10991968" y="0"/>
            <a:ext cx="1200032" cy="6858000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FB22E4-347B-B2FC-847D-8B78D3F1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130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8F4E-F388-2E81-F7EF-3E114A9B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C92705-7C52-DED8-A719-1401CB8775D7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78B9226-FA52-68BC-28E5-AACDADBB3719}"/>
              </a:ext>
            </a:extLst>
          </p:cNvPr>
          <p:cNvSpPr txBox="1"/>
          <p:nvPr/>
        </p:nvSpPr>
        <p:spPr>
          <a:xfrm>
            <a:off x="891251" y="423437"/>
            <a:ext cx="6134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602CB5CF-C95F-A59B-B720-C57746027E7A}"/>
              </a:ext>
            </a:extLst>
          </p:cNvPr>
          <p:cNvGrpSpPr/>
          <p:nvPr/>
        </p:nvGrpSpPr>
        <p:grpSpPr>
          <a:xfrm rot="5400000">
            <a:off x="587272" y="6429492"/>
            <a:ext cx="11017455" cy="982695"/>
            <a:chOff x="1033780" y="932815"/>
            <a:chExt cx="15149830" cy="1351280"/>
          </a:xfrm>
        </p:grpSpPr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D0492824-8DFD-FF64-148A-410A515240BD}"/>
                </a:ext>
              </a:extLst>
            </p:cNvPr>
            <p:cNvCxnSpPr>
              <a:cxnSpLocks/>
            </p:cNvCxnSpPr>
            <p:nvPr/>
          </p:nvCxnSpPr>
          <p:spPr>
            <a:xfrm>
              <a:off x="722884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911A857D-F3E3-CE1A-064F-417FA0FD1D1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485" y="1609958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019F0C46-2B42-59B7-A4E5-397C7C13C136}"/>
                </a:ext>
              </a:extLst>
            </p:cNvPr>
            <p:cNvCxnSpPr>
              <a:cxnSpLocks/>
            </p:cNvCxnSpPr>
            <p:nvPr/>
          </p:nvCxnSpPr>
          <p:spPr>
            <a:xfrm>
              <a:off x="1274826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995181D9-D2EF-B4E5-98D3-D75D116AB058}"/>
                </a:ext>
              </a:extLst>
            </p:cNvPr>
            <p:cNvCxnSpPr>
              <a:cxnSpLocks/>
            </p:cNvCxnSpPr>
            <p:nvPr/>
          </p:nvCxnSpPr>
          <p:spPr>
            <a:xfrm>
              <a:off x="10305905" y="1609958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eur droit 1">
              <a:extLst>
                <a:ext uri="{FF2B5EF4-FFF2-40B4-BE49-F238E27FC236}">
                  <a16:creationId xmlns:a16="http://schemas.microsoft.com/office/drawing/2014/main" id="{353F9DEA-58C9-C336-1938-9D6F5DE096B5}"/>
                </a:ext>
              </a:extLst>
            </p:cNvPr>
            <p:cNvCxnSpPr>
              <a:cxnSpLocks/>
            </p:cNvCxnSpPr>
            <p:nvPr/>
          </p:nvCxnSpPr>
          <p:spPr>
            <a:xfrm>
              <a:off x="170942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49B08A4-6F39-7E87-FF98-4E1E4AED705E}"/>
                </a:ext>
              </a:extLst>
            </p:cNvPr>
            <p:cNvSpPr/>
            <p:nvPr/>
          </p:nvSpPr>
          <p:spPr>
            <a:xfrm>
              <a:off x="103378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1</a:t>
              </a:r>
              <a:endParaRPr lang="fr-FR" sz="2800" b="1" dirty="0">
                <a:solidFill>
                  <a:srgbClr val="334051"/>
                </a:solidFill>
                <a:latin typeface="+mj-lt"/>
                <a:cs typeface="Aharoni" panose="02010803020104030203" pitchFamily="2" charset="-79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34DC68A-8830-6DE5-7E45-AC4E877A8380}"/>
                </a:ext>
              </a:extLst>
            </p:cNvPr>
            <p:cNvSpPr/>
            <p:nvPr/>
          </p:nvSpPr>
          <p:spPr>
            <a:xfrm>
              <a:off x="379349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2</a:t>
              </a: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0B54CF09-4CA5-C7C1-6235-74BBCC14E8FB}"/>
                </a:ext>
              </a:extLst>
            </p:cNvPr>
            <p:cNvSpPr/>
            <p:nvPr/>
          </p:nvSpPr>
          <p:spPr>
            <a:xfrm>
              <a:off x="655320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3 </a:t>
              </a: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9E47E3FB-DA06-C533-1EFA-30EA8E4F8F55}"/>
                </a:ext>
              </a:extLst>
            </p:cNvPr>
            <p:cNvSpPr/>
            <p:nvPr/>
          </p:nvSpPr>
          <p:spPr>
            <a:xfrm>
              <a:off x="931291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4</a:t>
              </a: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8132724-69C6-376A-FDDF-934DB60D7624}"/>
                </a:ext>
              </a:extLst>
            </p:cNvPr>
            <p:cNvSpPr/>
            <p:nvPr/>
          </p:nvSpPr>
          <p:spPr>
            <a:xfrm>
              <a:off x="1207262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5</a:t>
              </a: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C0CDCA61-C0BC-6EC8-3B70-57BEC1C568AA}"/>
                </a:ext>
              </a:extLst>
            </p:cNvPr>
            <p:cNvSpPr/>
            <p:nvPr/>
          </p:nvSpPr>
          <p:spPr>
            <a:xfrm>
              <a:off x="1483233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63C0F3B-2DAB-316A-F6AD-5B81DDBBAEF5}"/>
              </a:ext>
            </a:extLst>
          </p:cNvPr>
          <p:cNvSpPr/>
          <p:nvPr/>
        </p:nvSpPr>
        <p:spPr>
          <a:xfrm>
            <a:off x="11628714" y="11216333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5C8A7D-7BC0-6868-0C2A-FFD9B91E1E25}"/>
              </a:ext>
            </a:extLst>
          </p:cNvPr>
          <p:cNvSpPr txBox="1"/>
          <p:nvPr/>
        </p:nvSpPr>
        <p:spPr>
          <a:xfrm>
            <a:off x="7871171" y="11281678"/>
            <a:ext cx="4109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43928A8-568D-5823-4E43-C460564739F7}"/>
              </a:ext>
            </a:extLst>
          </p:cNvPr>
          <p:cNvSpPr txBox="1"/>
          <p:nvPr/>
        </p:nvSpPr>
        <p:spPr>
          <a:xfrm>
            <a:off x="6834114" y="1412112"/>
            <a:ext cx="39756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Flask,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Werkzeug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, WSGI, Jinja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60C64C-AE34-7E17-34D6-1AAEC82E4E9B}"/>
              </a:ext>
            </a:extLst>
          </p:cNvPr>
          <p:cNvSpPr txBox="1"/>
          <p:nvPr/>
        </p:nvSpPr>
        <p:spPr>
          <a:xfrm>
            <a:off x="0" y="3419064"/>
            <a:ext cx="5374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Flask vs autres </a:t>
            </a:r>
            <a:r>
              <a:rPr lang="fr-FR" sz="24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frameworks</a:t>
            </a:r>
            <a:endParaRPr lang="fr-FR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Comparaison avec d’autres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frameworks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  : Django,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FastAPI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Streamlit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C663289-D783-8D1B-8F6B-B20628BACEB1}"/>
              </a:ext>
            </a:extLst>
          </p:cNvPr>
          <p:cNvSpPr txBox="1"/>
          <p:nvPr/>
        </p:nvSpPr>
        <p:spPr>
          <a:xfrm>
            <a:off x="6815952" y="5426016"/>
            <a:ext cx="4812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Architecture et écosystème 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Cycle d’une requête et composants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04F65E7-0A09-70D2-D168-6651D8E254A1}"/>
              </a:ext>
            </a:extLst>
          </p:cNvPr>
          <p:cNvSpPr txBox="1"/>
          <p:nvPr/>
        </p:nvSpPr>
        <p:spPr>
          <a:xfrm>
            <a:off x="0" y="7446460"/>
            <a:ext cx="53749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Connexion BDD et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SQLAlchemy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4865010-AA3F-91A5-0884-FA578815D3FD}"/>
              </a:ext>
            </a:extLst>
          </p:cNvPr>
          <p:cNvSpPr txBox="1"/>
          <p:nvPr/>
        </p:nvSpPr>
        <p:spPr>
          <a:xfrm>
            <a:off x="6815952" y="9504822"/>
            <a:ext cx="4812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Outils de développement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UV, Ruff &amp; Gunicorn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696451E-F079-25C1-2C64-C2CF1CE94AC1}"/>
              </a:ext>
            </a:extLst>
          </p:cNvPr>
          <p:cNvSpPr txBox="1"/>
          <p:nvPr/>
        </p:nvSpPr>
        <p:spPr>
          <a:xfrm>
            <a:off x="-189401" y="11460364"/>
            <a:ext cx="53749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Mise en pratique - TD</a:t>
            </a: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Création de zéro d’une mini appli. Flask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B89F1-2442-B91F-EA1F-1733927286B2}"/>
              </a:ext>
            </a:extLst>
          </p:cNvPr>
          <p:cNvSpPr/>
          <p:nvPr/>
        </p:nvSpPr>
        <p:spPr>
          <a:xfrm>
            <a:off x="12515968" y="0"/>
            <a:ext cx="1200032" cy="6858000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D3E3B5-5C76-6F09-E672-5523361C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00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A1B2-DFD6-0FC9-1E2B-D0F210E0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4B8C23A-8323-7653-7BDE-B8F448FED7E4}"/>
              </a:ext>
            </a:extLst>
          </p:cNvPr>
          <p:cNvSpPr/>
          <p:nvPr/>
        </p:nvSpPr>
        <p:spPr>
          <a:xfrm>
            <a:off x="11628714" y="5342315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38F43FC-4DC4-60C1-F0BB-1CA9AA05A96C}"/>
              </a:ext>
            </a:extLst>
          </p:cNvPr>
          <p:cNvSpPr txBox="1"/>
          <p:nvPr/>
        </p:nvSpPr>
        <p:spPr>
          <a:xfrm>
            <a:off x="7871171" y="5407660"/>
            <a:ext cx="4109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E4E8F-BFBC-4B48-A3AD-62C3249D9EE9}"/>
              </a:ext>
            </a:extLst>
          </p:cNvPr>
          <p:cNvSpPr/>
          <p:nvPr/>
        </p:nvSpPr>
        <p:spPr>
          <a:xfrm>
            <a:off x="-385791" y="-6352675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A8B7AE7-4BBB-1078-525A-AA7C48D565E1}"/>
              </a:ext>
            </a:extLst>
          </p:cNvPr>
          <p:cNvSpPr txBox="1"/>
          <p:nvPr/>
        </p:nvSpPr>
        <p:spPr>
          <a:xfrm>
            <a:off x="891251" y="-6287330"/>
            <a:ext cx="6134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4F42EA6F-7F17-31FE-FAAC-0EB5CA33A67C}"/>
              </a:ext>
            </a:extLst>
          </p:cNvPr>
          <p:cNvGrpSpPr/>
          <p:nvPr/>
        </p:nvGrpSpPr>
        <p:grpSpPr>
          <a:xfrm rot="5400000">
            <a:off x="587272" y="-657760"/>
            <a:ext cx="11017455" cy="982695"/>
            <a:chOff x="1033780" y="932815"/>
            <a:chExt cx="15149830" cy="135128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2B59C9A3-E964-60B7-950E-4B6B62E09837}"/>
                </a:ext>
              </a:extLst>
            </p:cNvPr>
            <p:cNvCxnSpPr>
              <a:cxnSpLocks/>
            </p:cNvCxnSpPr>
            <p:nvPr/>
          </p:nvCxnSpPr>
          <p:spPr>
            <a:xfrm>
              <a:off x="722884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44C3AD74-4EFE-5A25-B0E5-C2F62D76E40C}"/>
                </a:ext>
              </a:extLst>
            </p:cNvPr>
            <p:cNvCxnSpPr>
              <a:cxnSpLocks/>
            </p:cNvCxnSpPr>
            <p:nvPr/>
          </p:nvCxnSpPr>
          <p:spPr>
            <a:xfrm>
              <a:off x="4786485" y="1609958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1B40F83F-7AEF-B1FE-DEED-C819813575D0}"/>
                </a:ext>
              </a:extLst>
            </p:cNvPr>
            <p:cNvCxnSpPr>
              <a:cxnSpLocks/>
            </p:cNvCxnSpPr>
            <p:nvPr/>
          </p:nvCxnSpPr>
          <p:spPr>
            <a:xfrm>
              <a:off x="1274826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826EFFF-8EA8-F044-7DAB-A415BDF524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05905" y="1609958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82C09BFE-3865-9C46-D532-E7B8A148776E}"/>
                </a:ext>
              </a:extLst>
            </p:cNvPr>
            <p:cNvCxnSpPr>
              <a:cxnSpLocks/>
            </p:cNvCxnSpPr>
            <p:nvPr/>
          </p:nvCxnSpPr>
          <p:spPr>
            <a:xfrm>
              <a:off x="1709420" y="1608455"/>
              <a:ext cx="2491740" cy="0"/>
            </a:xfrm>
            <a:prstGeom prst="line">
              <a:avLst/>
            </a:prstGeom>
            <a:ln w="31750">
              <a:solidFill>
                <a:srgbClr val="33405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287F8EC-4FA6-F4E5-702B-AFCA68D7DF83}"/>
                </a:ext>
              </a:extLst>
            </p:cNvPr>
            <p:cNvSpPr/>
            <p:nvPr/>
          </p:nvSpPr>
          <p:spPr>
            <a:xfrm>
              <a:off x="103378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1</a:t>
              </a:r>
              <a:endParaRPr lang="fr-FR" sz="2800" b="1" dirty="0">
                <a:solidFill>
                  <a:srgbClr val="334051"/>
                </a:solidFill>
                <a:latin typeface="+mj-lt"/>
                <a:cs typeface="Aharoni" panose="02010803020104030203" pitchFamily="2" charset="-79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939C187F-AF71-002B-EBDD-A391264DEA4D}"/>
                </a:ext>
              </a:extLst>
            </p:cNvPr>
            <p:cNvSpPr/>
            <p:nvPr/>
          </p:nvSpPr>
          <p:spPr>
            <a:xfrm>
              <a:off x="379349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2</a:t>
              </a: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C4D0C696-0FA2-21D7-8925-3B116E222080}"/>
                </a:ext>
              </a:extLst>
            </p:cNvPr>
            <p:cNvSpPr/>
            <p:nvPr/>
          </p:nvSpPr>
          <p:spPr>
            <a:xfrm>
              <a:off x="655320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3 </a:t>
              </a: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195738F4-1A4B-78B8-C133-3704A7DB0D68}"/>
                </a:ext>
              </a:extLst>
            </p:cNvPr>
            <p:cNvSpPr/>
            <p:nvPr/>
          </p:nvSpPr>
          <p:spPr>
            <a:xfrm>
              <a:off x="931291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4</a:t>
              </a: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A7CEA7D5-20C8-04E6-5223-AEB51B8017D6}"/>
                </a:ext>
              </a:extLst>
            </p:cNvPr>
            <p:cNvSpPr/>
            <p:nvPr/>
          </p:nvSpPr>
          <p:spPr>
            <a:xfrm>
              <a:off x="12072620" y="932815"/>
              <a:ext cx="1351280" cy="1351280"/>
            </a:xfrm>
            <a:prstGeom prst="ellipse">
              <a:avLst/>
            </a:prstGeom>
            <a:solidFill>
              <a:srgbClr val="BAC3CC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334051"/>
                  </a:solidFill>
                  <a:latin typeface="+mj-lt"/>
                  <a:cs typeface="Aharoni" panose="02010803020104030203" pitchFamily="2" charset="-79"/>
                </a:rPr>
                <a:t>5</a:t>
              </a: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8CFE60AD-6E95-4223-3EA4-368430C943F2}"/>
                </a:ext>
              </a:extLst>
            </p:cNvPr>
            <p:cNvSpPr/>
            <p:nvPr/>
          </p:nvSpPr>
          <p:spPr>
            <a:xfrm>
              <a:off x="14832330" y="932815"/>
              <a:ext cx="1351280" cy="1351280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rgbClr val="BAC3CC"/>
                  </a:solidFill>
                  <a:latin typeface="+mj-lt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0057368E-44EE-8446-F928-35A189995A1D}"/>
              </a:ext>
            </a:extLst>
          </p:cNvPr>
          <p:cNvSpPr txBox="1"/>
          <p:nvPr/>
        </p:nvSpPr>
        <p:spPr>
          <a:xfrm>
            <a:off x="0" y="345716"/>
            <a:ext cx="53749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Connexion BDD et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SQLAlchemy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8604ECD-58AB-FB14-FD30-7500E2C71C3B}"/>
              </a:ext>
            </a:extLst>
          </p:cNvPr>
          <p:cNvSpPr txBox="1"/>
          <p:nvPr/>
        </p:nvSpPr>
        <p:spPr>
          <a:xfrm>
            <a:off x="6815952" y="2404078"/>
            <a:ext cx="4812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Outils de développement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UV, Ruff &amp; Gunicorn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E4C35AE-EE83-6C66-DE8D-E9763A442D0D}"/>
              </a:ext>
            </a:extLst>
          </p:cNvPr>
          <p:cNvSpPr txBox="1"/>
          <p:nvPr/>
        </p:nvSpPr>
        <p:spPr>
          <a:xfrm>
            <a:off x="-189401" y="4359620"/>
            <a:ext cx="53749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Mise en pratique - TD</a:t>
            </a: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Création de zéro d’une mini appli. Flask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020A2EB-FF8E-A9C5-3D70-4DA6199A8F02}"/>
              </a:ext>
            </a:extLst>
          </p:cNvPr>
          <p:cNvSpPr txBox="1"/>
          <p:nvPr/>
        </p:nvSpPr>
        <p:spPr>
          <a:xfrm>
            <a:off x="6834114" y="-5659520"/>
            <a:ext cx="39756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Flask,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Werkzeug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, WSGI, Jinja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325AD55-87FE-2AB8-7F4A-3C3E348E9F4D}"/>
              </a:ext>
            </a:extLst>
          </p:cNvPr>
          <p:cNvSpPr txBox="1"/>
          <p:nvPr/>
        </p:nvSpPr>
        <p:spPr>
          <a:xfrm>
            <a:off x="0" y="-3652568"/>
            <a:ext cx="5374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Flask vs autres </a:t>
            </a:r>
            <a:r>
              <a:rPr lang="fr-FR" sz="24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frameworks</a:t>
            </a:r>
            <a:endParaRPr lang="fr-FR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Comparaison avec d’autres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frameworks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  : Django,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FastAPI</a:t>
            </a: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Streamlit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9E9A7CB-2D99-A044-EC0A-F98146A95618}"/>
              </a:ext>
            </a:extLst>
          </p:cNvPr>
          <p:cNvSpPr txBox="1"/>
          <p:nvPr/>
        </p:nvSpPr>
        <p:spPr>
          <a:xfrm>
            <a:off x="6815952" y="-1645616"/>
            <a:ext cx="4812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Architecture et écosystème 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Cycle d’une requête et composants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C8BEA1-98BA-7A7E-6737-9D4F1B959779}"/>
              </a:ext>
            </a:extLst>
          </p:cNvPr>
          <p:cNvSpPr/>
          <p:nvPr/>
        </p:nvSpPr>
        <p:spPr>
          <a:xfrm>
            <a:off x="-385791" y="-1294978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048EFAC6-787F-AE5B-82B9-557C87B5EA7B}"/>
              </a:ext>
            </a:extLst>
          </p:cNvPr>
          <p:cNvSpPr txBox="1"/>
          <p:nvPr/>
        </p:nvSpPr>
        <p:spPr>
          <a:xfrm>
            <a:off x="891251" y="-1229633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7109623-7C17-C273-FA66-0D728E4A46F5}"/>
              </a:ext>
            </a:extLst>
          </p:cNvPr>
          <p:cNvSpPr txBox="1"/>
          <p:nvPr/>
        </p:nvSpPr>
        <p:spPr>
          <a:xfrm>
            <a:off x="891251" y="-490969"/>
            <a:ext cx="6539696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Qu’est-ce que Flask 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CD6E77-3E8E-6BFB-41F3-AC8E09E13E3D}"/>
              </a:ext>
            </a:extLst>
          </p:cNvPr>
          <p:cNvSpPr/>
          <p:nvPr/>
        </p:nvSpPr>
        <p:spPr>
          <a:xfrm flipH="1">
            <a:off x="8595211" y="-1348387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4091371-C6E3-A3F9-9AB1-DCE4628B4192}"/>
              </a:ext>
            </a:extLst>
          </p:cNvPr>
          <p:cNvGrpSpPr/>
          <p:nvPr/>
        </p:nvGrpSpPr>
        <p:grpSpPr>
          <a:xfrm>
            <a:off x="8749078" y="-1227068"/>
            <a:ext cx="2924762" cy="369332"/>
            <a:chOff x="8749078" y="358092"/>
            <a:chExt cx="2924762" cy="369332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282587F5-97AD-2436-60F8-09EB295DA6AE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E493C6E5-8C30-3F3F-483F-1933A28A951F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ABF3ABC-7B60-1D5E-4E58-B4BF4A5606E5}"/>
              </a:ext>
            </a:extLst>
          </p:cNvPr>
          <p:cNvGrpSpPr/>
          <p:nvPr/>
        </p:nvGrpSpPr>
        <p:grpSpPr>
          <a:xfrm>
            <a:off x="8749078" y="-939537"/>
            <a:ext cx="2924762" cy="369332"/>
            <a:chOff x="8749078" y="645623"/>
            <a:chExt cx="2924762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F1F46100-5E3F-87AA-BA46-FA9A342340E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983E28BE-E50C-982C-B5DC-EC6691B4C1AB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239504F7-D73C-C03C-F39F-592C8F7BE16F}"/>
              </a:ext>
            </a:extLst>
          </p:cNvPr>
          <p:cNvGrpSpPr/>
          <p:nvPr/>
        </p:nvGrpSpPr>
        <p:grpSpPr>
          <a:xfrm>
            <a:off x="8749078" y="-644858"/>
            <a:ext cx="3144789" cy="369332"/>
            <a:chOff x="8749078" y="940302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9B3FD83E-6984-FCF8-89EE-1378B4894D2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6E8261CA-FE04-6819-C031-E67E6908AE79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272F2A6A-B599-5263-809E-899CB20B38A2}"/>
              </a:ext>
            </a:extLst>
          </p:cNvPr>
          <p:cNvSpPr/>
          <p:nvPr/>
        </p:nvSpPr>
        <p:spPr>
          <a:xfrm>
            <a:off x="12515968" y="0"/>
            <a:ext cx="1200032" cy="6858000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7BD84BD-EE29-38E8-EDB6-94E81258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7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8E2C-3D2B-B1F8-3759-69519366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F45937A-372F-5AE3-BBC7-959554B766A7}"/>
              </a:ext>
            </a:extLst>
          </p:cNvPr>
          <p:cNvSpPr/>
          <p:nvPr/>
        </p:nvSpPr>
        <p:spPr>
          <a:xfrm>
            <a:off x="2558005" y="4370285"/>
            <a:ext cx="7141580" cy="1597814"/>
          </a:xfrm>
          <a:prstGeom prst="round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49D08C6-9A80-0C21-87A1-5D90D839B499}"/>
              </a:ext>
            </a:extLst>
          </p:cNvPr>
          <p:cNvSpPr txBox="1"/>
          <p:nvPr/>
        </p:nvSpPr>
        <p:spPr>
          <a:xfrm>
            <a:off x="357283" y="1869505"/>
            <a:ext cx="1153841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Micro-</a:t>
            </a:r>
            <a:r>
              <a:rPr lang="fr-FR" sz="2400" dirty="0" err="1"/>
              <a:t>framework</a:t>
            </a:r>
            <a:r>
              <a:rPr lang="fr-FR" sz="2400" dirty="0"/>
              <a:t> web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Repose principalement sur deux technologies  : </a:t>
            </a:r>
            <a:r>
              <a:rPr lang="fr-FR" sz="2400" dirty="0" err="1"/>
              <a:t>Werkzeug</a:t>
            </a:r>
            <a:r>
              <a:rPr lang="fr-FR" sz="2400" dirty="0"/>
              <a:t> (WSGI) et Jinja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Créé en 2010 par Armin </a:t>
            </a:r>
            <a:r>
              <a:rPr lang="fr-FR" sz="2400" dirty="0" err="1"/>
              <a:t>Ronacher</a:t>
            </a:r>
            <a:r>
              <a:rPr lang="fr-FR" sz="2400" dirty="0"/>
              <a:t> et toujours actualisé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2"/>
              </a:rPr>
              <a:t>FLASK</a:t>
            </a:r>
            <a:endParaRPr lang="fr-FR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CE6D36-72C1-6FC5-A2F5-9FF90A56F033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1910945-3950-B722-2245-2C8BAE9E452E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AAF7CB3-4CE0-9CEB-99CD-B8712BD543DC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Qu’est-ce que Flask 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3D396-C45D-95E6-75A5-3FAAA3D1913F}"/>
              </a:ext>
            </a:extLst>
          </p:cNvPr>
          <p:cNvSpPr/>
          <p:nvPr/>
        </p:nvSpPr>
        <p:spPr>
          <a:xfrm>
            <a:off x="12482154" y="5342315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A53203-31EB-07A0-4061-DA66216963DE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26C8ACC-33B3-FD90-5D28-615FC114E6FE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FE30654-4FC3-F3C5-2B17-A7FCE520CC1E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E48007A-3BFC-1BE3-3C1E-05F4E419BD49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2FD4A6B-551E-5C91-A3D4-56152B24CE86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C11F406-E296-BE12-B4D4-65513F7C974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2B9A1E7-FFD1-9AB7-36EF-16B5474BE88D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C1B96FD-7769-5787-8A91-9F6A3B4CF3B5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236F53EC-1553-B78D-F22F-B23541295D2F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75CC547-5583-F5D9-5B75-D8DB69ABBA32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6B7F311-3027-9103-6BD1-E4A36637EC10}"/>
              </a:ext>
            </a:extLst>
          </p:cNvPr>
          <p:cNvSpPr/>
          <p:nvPr/>
        </p:nvSpPr>
        <p:spPr>
          <a:xfrm>
            <a:off x="326791" y="5119552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CB1F2EC-1A38-7E94-38B7-225ED42455E8}"/>
              </a:ext>
            </a:extLst>
          </p:cNvPr>
          <p:cNvSpPr/>
          <p:nvPr/>
        </p:nvSpPr>
        <p:spPr>
          <a:xfrm>
            <a:off x="2687913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WSGI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708353E-5802-6CB4-F472-4F5928FD86C2}"/>
              </a:ext>
            </a:extLst>
          </p:cNvPr>
          <p:cNvSpPr/>
          <p:nvPr/>
        </p:nvSpPr>
        <p:spPr>
          <a:xfrm>
            <a:off x="5049035" y="5125687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bg1"/>
                </a:solidFill>
              </a:rPr>
              <a:t>Routing</a:t>
            </a:r>
            <a:r>
              <a:rPr lang="fr-FR" sz="24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C7B0E5-7125-9936-17AA-397337BDD875}"/>
              </a:ext>
            </a:extLst>
          </p:cNvPr>
          <p:cNvSpPr/>
          <p:nvPr/>
        </p:nvSpPr>
        <p:spPr>
          <a:xfrm>
            <a:off x="7410157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Jinja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BDD6352-310D-7DF4-6C32-8285A00C8CAB}"/>
              </a:ext>
            </a:extLst>
          </p:cNvPr>
          <p:cNvSpPr/>
          <p:nvPr/>
        </p:nvSpPr>
        <p:spPr>
          <a:xfrm>
            <a:off x="9771279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Réponse HTML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8C5EB22-2AC4-8B6D-D059-8BAF7B884C5F}"/>
              </a:ext>
            </a:extLst>
          </p:cNvPr>
          <p:cNvCxnSpPr>
            <a:cxnSpLocks/>
          </p:cNvCxnSpPr>
          <p:nvPr/>
        </p:nvCxnSpPr>
        <p:spPr>
          <a:xfrm>
            <a:off x="2287822" y="5477342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1852795-236E-CC49-F698-6796C0F48769}"/>
              </a:ext>
            </a:extLst>
          </p:cNvPr>
          <p:cNvCxnSpPr>
            <a:cxnSpLocks/>
          </p:cNvCxnSpPr>
          <p:nvPr/>
        </p:nvCxnSpPr>
        <p:spPr>
          <a:xfrm>
            <a:off x="4668035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F83BBFD-A66E-A90C-65D4-85222168D1BE}"/>
              </a:ext>
            </a:extLst>
          </p:cNvPr>
          <p:cNvCxnSpPr>
            <a:cxnSpLocks/>
          </p:cNvCxnSpPr>
          <p:nvPr/>
        </p:nvCxnSpPr>
        <p:spPr>
          <a:xfrm>
            <a:off x="708121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80DD560-7409-F98C-5A72-6CBBC243CE52}"/>
              </a:ext>
            </a:extLst>
          </p:cNvPr>
          <p:cNvCxnSpPr>
            <a:cxnSpLocks/>
          </p:cNvCxnSpPr>
          <p:nvPr/>
        </p:nvCxnSpPr>
        <p:spPr>
          <a:xfrm>
            <a:off x="944849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E574416-05C8-5171-7F39-AF5A951B1565}"/>
              </a:ext>
            </a:extLst>
          </p:cNvPr>
          <p:cNvSpPr txBox="1"/>
          <p:nvPr/>
        </p:nvSpPr>
        <p:spPr>
          <a:xfrm>
            <a:off x="2558005" y="4397399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Flask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D2F71A-F33C-04FA-0080-16332359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008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D186-DD03-673C-0C77-8927503F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98F8C0-C52E-658B-C751-950DD90D2873}"/>
              </a:ext>
            </a:extLst>
          </p:cNvPr>
          <p:cNvSpPr/>
          <p:nvPr/>
        </p:nvSpPr>
        <p:spPr>
          <a:xfrm>
            <a:off x="3151736" y="5307240"/>
            <a:ext cx="1355066" cy="3872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« Surcouche » à l’interface web / python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Transforme le dictionnaire </a:t>
            </a:r>
            <a:r>
              <a:rPr lang="fr-FR" sz="100" b="1" dirty="0"/>
              <a:t>CGI</a:t>
            </a:r>
            <a:r>
              <a:rPr lang="fr-FR" sz="100" dirty="0"/>
              <a:t> d’informations sur la requête donné par le navigateur en un objet python utilisable facilement.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Garantit la structure de données et de réponses attendu par WSGI.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A745ED2-F332-40E7-332F-41A7EAA5383E}"/>
              </a:ext>
            </a:extLst>
          </p:cNvPr>
          <p:cNvSpPr/>
          <p:nvPr/>
        </p:nvSpPr>
        <p:spPr>
          <a:xfrm>
            <a:off x="2558005" y="3993266"/>
            <a:ext cx="7141580" cy="2431989"/>
          </a:xfrm>
          <a:prstGeom prst="round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9019B26-49BF-F510-532C-386A2F05E8E2}"/>
              </a:ext>
            </a:extLst>
          </p:cNvPr>
          <p:cNvSpPr/>
          <p:nvPr/>
        </p:nvSpPr>
        <p:spPr>
          <a:xfrm>
            <a:off x="2558005" y="4537276"/>
            <a:ext cx="4720619" cy="1430823"/>
          </a:xfrm>
          <a:prstGeom prst="roundRect">
            <a:avLst/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5B57A27-A962-C383-3BBA-332DAD150D0F}"/>
              </a:ext>
            </a:extLst>
          </p:cNvPr>
          <p:cNvSpPr/>
          <p:nvPr/>
        </p:nvSpPr>
        <p:spPr>
          <a:xfrm>
            <a:off x="2687913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WSGI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B0DAA4E-EEAC-1F28-8937-8CB7ECCA5B9E}"/>
              </a:ext>
            </a:extLst>
          </p:cNvPr>
          <p:cNvSpPr/>
          <p:nvPr/>
        </p:nvSpPr>
        <p:spPr>
          <a:xfrm>
            <a:off x="5591796" y="5285661"/>
            <a:ext cx="947183" cy="408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Gère un dictionnaire mappant les URLs à des fonctions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Appelle la fonction attribuée à l’URL.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Encapsule la réponse, gère les arguments d’entrée et la requête.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Crée un environnement qui possède toutes les informations nécessaires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BD5930BE-EB2B-E7D8-F744-D7EEA2E68045}"/>
              </a:ext>
            </a:extLst>
          </p:cNvPr>
          <p:cNvSpPr txBox="1"/>
          <p:nvPr/>
        </p:nvSpPr>
        <p:spPr>
          <a:xfrm>
            <a:off x="2558005" y="4111455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Flask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DC1B35-3CFB-E4B0-BBA4-2ED5A7C06B60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C7CBBA0-9349-1B03-FCDF-D91032787A5D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0ABFF86-6843-EBE3-5430-C284A47D5903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Werkzeug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(« outils » en allemand)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21E36C-32E9-850F-A929-4F9071FF7951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D60B7DF8-C4A7-244E-E6F4-30D097D478C7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690F9A6-01A6-5F36-0F57-C1F08A407E67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D181AA8-01FA-43CD-7640-4C4DF9500957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69D093D-0475-03A8-A2F3-84731422C532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564509E4-0653-5D62-ECE1-2D5F55C7A1DD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A33A5DD-1892-D349-7895-B4D3DBFE5AA6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E041D87-66AB-22D3-00AA-A517AA3A7438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6BCE9CC-5EB0-29CE-4F8F-83F696B9A8B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35C3412A-4592-616B-2F68-2730A18D3BF4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A61820AE-C152-811E-0D05-A9B6C0CA24D8}"/>
              </a:ext>
            </a:extLst>
          </p:cNvPr>
          <p:cNvSpPr txBox="1"/>
          <p:nvPr/>
        </p:nvSpPr>
        <p:spPr>
          <a:xfrm>
            <a:off x="355450" y="2065456"/>
            <a:ext cx="11538417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Bibliothèque bas-niveau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Fournit toutes les briques pour la création d’une app basée sur WSGI.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 Lien du site : </a:t>
            </a:r>
            <a:r>
              <a:rPr lang="fr-FR" sz="2400" dirty="0">
                <a:hlinkClick r:id="rId3"/>
              </a:rPr>
              <a:t>WERKZEUG</a:t>
            </a:r>
            <a:endParaRPr lang="fr-FR" sz="2400" dirty="0"/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ECAAF9FF-8050-C79A-30D4-52822D42D6A7}"/>
              </a:ext>
            </a:extLst>
          </p:cNvPr>
          <p:cNvGrpSpPr/>
          <p:nvPr/>
        </p:nvGrpSpPr>
        <p:grpSpPr>
          <a:xfrm>
            <a:off x="6039144" y="1634568"/>
            <a:ext cx="5859921" cy="1010421"/>
            <a:chOff x="1661160" y="3886200"/>
            <a:chExt cx="5859921" cy="187720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F2AA648-7A85-80A6-FDAB-F1C5510C14A0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WSGI : Web Server 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Gate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Interface =</a:t>
              </a:r>
            </a:p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Interface entre serveurs et app. Web pour Python</a:t>
              </a:r>
            </a:p>
          </p:txBody>
        </p: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C1C59E20-B024-60C3-7B25-8682BD5029A2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3852ACB4-1E25-0D96-4E1D-428A8F79FF5F}"/>
              </a:ext>
            </a:extLst>
          </p:cNvPr>
          <p:cNvSpPr/>
          <p:nvPr/>
        </p:nvSpPr>
        <p:spPr>
          <a:xfrm>
            <a:off x="326791" y="5119552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38A58F41-5089-2704-BD7B-B08EA87C3EF7}"/>
              </a:ext>
            </a:extLst>
          </p:cNvPr>
          <p:cNvSpPr/>
          <p:nvPr/>
        </p:nvSpPr>
        <p:spPr>
          <a:xfrm>
            <a:off x="5049035" y="5125687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bg1"/>
                </a:solidFill>
              </a:rPr>
              <a:t>Routing</a:t>
            </a:r>
            <a:r>
              <a:rPr lang="fr-FR" sz="24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F3C01E86-1152-7160-3F6F-C20D3B9D1FD0}"/>
              </a:ext>
            </a:extLst>
          </p:cNvPr>
          <p:cNvSpPr/>
          <p:nvPr/>
        </p:nvSpPr>
        <p:spPr>
          <a:xfrm>
            <a:off x="7410157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Jinja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0E85C72A-1AF6-DEC5-0CF1-1193AF69F052}"/>
              </a:ext>
            </a:extLst>
          </p:cNvPr>
          <p:cNvSpPr/>
          <p:nvPr/>
        </p:nvSpPr>
        <p:spPr>
          <a:xfrm>
            <a:off x="9771279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Réponse HTML</a:t>
            </a:r>
          </a:p>
        </p:txBody>
      </p: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EE62FF65-A715-F455-F7E0-ED3415854C3C}"/>
              </a:ext>
            </a:extLst>
          </p:cNvPr>
          <p:cNvCxnSpPr>
            <a:cxnSpLocks/>
          </p:cNvCxnSpPr>
          <p:nvPr/>
        </p:nvCxnSpPr>
        <p:spPr>
          <a:xfrm>
            <a:off x="2287822" y="5477342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6A04E060-C3D5-D852-72DE-04E6D27CB36C}"/>
              </a:ext>
            </a:extLst>
          </p:cNvPr>
          <p:cNvCxnSpPr>
            <a:cxnSpLocks/>
          </p:cNvCxnSpPr>
          <p:nvPr/>
        </p:nvCxnSpPr>
        <p:spPr>
          <a:xfrm>
            <a:off x="4668035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4B8A4011-9928-E78C-DCE0-684F3E8328C3}"/>
              </a:ext>
            </a:extLst>
          </p:cNvPr>
          <p:cNvCxnSpPr>
            <a:cxnSpLocks/>
          </p:cNvCxnSpPr>
          <p:nvPr/>
        </p:nvCxnSpPr>
        <p:spPr>
          <a:xfrm>
            <a:off x="708121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43D88F21-8601-04C5-4680-A0FEB281C6AA}"/>
              </a:ext>
            </a:extLst>
          </p:cNvPr>
          <p:cNvCxnSpPr>
            <a:cxnSpLocks/>
          </p:cNvCxnSpPr>
          <p:nvPr/>
        </p:nvCxnSpPr>
        <p:spPr>
          <a:xfrm>
            <a:off x="944849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F8FBCC20-0D1D-082B-0531-1C111D2C0E1E}"/>
              </a:ext>
            </a:extLst>
          </p:cNvPr>
          <p:cNvSpPr txBox="1"/>
          <p:nvPr/>
        </p:nvSpPr>
        <p:spPr>
          <a:xfrm>
            <a:off x="2555936" y="4602600"/>
            <a:ext cx="472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Werkzeug</a:t>
            </a:r>
            <a:endParaRPr lang="fr-FR" sz="2400" dirty="0"/>
          </a:p>
        </p:txBody>
      </p: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BB037EBD-B88C-5219-9257-162B9BB5749C}"/>
              </a:ext>
            </a:extLst>
          </p:cNvPr>
          <p:cNvGrpSpPr/>
          <p:nvPr/>
        </p:nvGrpSpPr>
        <p:grpSpPr>
          <a:xfrm>
            <a:off x="352793" y="7096643"/>
            <a:ext cx="5360914" cy="1095342"/>
            <a:chOff x="1661160" y="3886200"/>
            <a:chExt cx="5859921" cy="1877204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3C21A11-8D9E-21F4-6A80-59CB795B9DF5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CGI : Common Gateway Interface =</a:t>
              </a:r>
            </a:p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interface des serveurs HTTP : au lieu d'envoyer un fichier pour une adresse web, on exécute un programme et retourne le contenu généré.</a:t>
              </a:r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9684AF08-A1B3-5546-DE7D-C3743B4A4B09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B70495-184B-A3B5-E52B-6422F42F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55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7333-1B86-03DC-4CC0-85355AB6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1C528306-1295-EBD1-CFD5-5F0930034A61}"/>
              </a:ext>
            </a:extLst>
          </p:cNvPr>
          <p:cNvSpPr/>
          <p:nvPr/>
        </p:nvSpPr>
        <p:spPr>
          <a:xfrm>
            <a:off x="-670560" y="-579120"/>
            <a:ext cx="13289280" cy="8107680"/>
          </a:xfrm>
          <a:prstGeom prst="round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9B915BA5-EE77-C49F-6A7A-B4D6F93C4916}"/>
              </a:ext>
            </a:extLst>
          </p:cNvPr>
          <p:cNvSpPr/>
          <p:nvPr/>
        </p:nvSpPr>
        <p:spPr>
          <a:xfrm>
            <a:off x="-385792" y="0"/>
            <a:ext cx="12577791" cy="6858000"/>
          </a:xfrm>
          <a:prstGeom prst="roundRect">
            <a:avLst/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E709D193-6425-E9C2-9DF8-FDF4853EDC21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Werkzeug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: Qu’est-ce que ça fait ?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3BB3D4D-B283-3B8B-B157-1CED15538F7B}"/>
              </a:ext>
            </a:extLst>
          </p:cNvPr>
          <p:cNvSpPr txBox="1"/>
          <p:nvPr/>
        </p:nvSpPr>
        <p:spPr>
          <a:xfrm>
            <a:off x="2558005" y="-1390185"/>
            <a:ext cx="7141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/>
              <a:t>Flask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DC55EEE-C72C-E48B-E641-41C75647E058}"/>
              </a:ext>
            </a:extLst>
          </p:cNvPr>
          <p:cNvSpPr/>
          <p:nvPr/>
        </p:nvSpPr>
        <p:spPr>
          <a:xfrm>
            <a:off x="-3081296" y="209937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96B84810-FC4B-9A8A-D224-2A1A37B12479}"/>
              </a:ext>
            </a:extLst>
          </p:cNvPr>
          <p:cNvSpPr/>
          <p:nvPr/>
        </p:nvSpPr>
        <p:spPr>
          <a:xfrm>
            <a:off x="326790" y="2092674"/>
            <a:ext cx="5386917" cy="722280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WSGI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9D54F47C-3A67-DAF2-0288-0FA2897CBB31}"/>
              </a:ext>
            </a:extLst>
          </p:cNvPr>
          <p:cNvSpPr/>
          <p:nvPr/>
        </p:nvSpPr>
        <p:spPr>
          <a:xfrm>
            <a:off x="6305840" y="2105508"/>
            <a:ext cx="5385539" cy="702747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bg1"/>
                </a:solidFill>
              </a:rPr>
              <a:t>Routing</a:t>
            </a:r>
            <a:r>
              <a:rPr lang="fr-FR" sz="24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619EE4E5-B0A8-BEFC-1819-05E68DADD008}"/>
              </a:ext>
            </a:extLst>
          </p:cNvPr>
          <p:cNvSpPr/>
          <p:nvPr/>
        </p:nvSpPr>
        <p:spPr>
          <a:xfrm>
            <a:off x="12804373" y="2092674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Jinja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4CE8AE84-E063-657D-824B-BFC04FA14238}"/>
              </a:ext>
            </a:extLst>
          </p:cNvPr>
          <p:cNvSpPr/>
          <p:nvPr/>
        </p:nvSpPr>
        <p:spPr>
          <a:xfrm>
            <a:off x="15165495" y="2092674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Réponse HTML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12F533A9-62BA-C7C1-6A87-BD179724A7E8}"/>
              </a:ext>
            </a:extLst>
          </p:cNvPr>
          <p:cNvCxnSpPr>
            <a:cxnSpLocks/>
          </p:cNvCxnSpPr>
          <p:nvPr/>
        </p:nvCxnSpPr>
        <p:spPr>
          <a:xfrm flipV="1">
            <a:off x="-1278621" y="2450464"/>
            <a:ext cx="2019401" cy="6699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6634797-230D-836D-D1A9-5EAF60E12259}"/>
              </a:ext>
            </a:extLst>
          </p:cNvPr>
          <p:cNvCxnSpPr>
            <a:cxnSpLocks/>
          </p:cNvCxnSpPr>
          <p:nvPr/>
        </p:nvCxnSpPr>
        <p:spPr>
          <a:xfrm>
            <a:off x="5402580" y="2457163"/>
            <a:ext cx="1232682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1A7F6A10-CAA3-2822-4445-0B6AFFA74EAF}"/>
              </a:ext>
            </a:extLst>
          </p:cNvPr>
          <p:cNvCxnSpPr>
            <a:cxnSpLocks/>
          </p:cNvCxnSpPr>
          <p:nvPr/>
        </p:nvCxnSpPr>
        <p:spPr>
          <a:xfrm>
            <a:off x="12475428" y="2450464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F47B9F8-2BC6-6C01-86C1-08CF921A77C0}"/>
              </a:ext>
            </a:extLst>
          </p:cNvPr>
          <p:cNvCxnSpPr>
            <a:cxnSpLocks/>
          </p:cNvCxnSpPr>
          <p:nvPr/>
        </p:nvCxnSpPr>
        <p:spPr>
          <a:xfrm>
            <a:off x="14842708" y="2450464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A943E5F-D7AF-627D-6B7A-C5ED3D547F6E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2C6BA51-939C-44F9-A410-F31DBDD122D0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83C161-0951-3EAA-0FB3-938891EA1A35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5BB67A54-9794-3F5A-AD91-A0E5343930C2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F19EE9C8-2F96-6C72-5399-8AFF36BFB1D6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5C05210D-5F6F-7665-7310-5E0F477C39F3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2E832A9C-155E-244F-5965-6E4AFEE49C66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34C38DFD-9B9B-4417-8559-7026FFB390D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EE5391C5-97E8-68C9-B2C8-7360EBCBA654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E7F3DB69-B74F-58D7-20C6-F7B6174C7401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35B4E2CE-A585-3681-3DC4-A844FE64AFFE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D7B7AA39-F075-F044-4053-0E6635C0D1A7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88F9EF94-CF4F-A79F-2C74-195C981F53B9}"/>
              </a:ext>
            </a:extLst>
          </p:cNvPr>
          <p:cNvSpPr txBox="1"/>
          <p:nvPr/>
        </p:nvSpPr>
        <p:spPr>
          <a:xfrm>
            <a:off x="2555936" y="-957200"/>
            <a:ext cx="472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Werkzeug</a:t>
            </a:r>
            <a:endParaRPr lang="fr-FR" sz="2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EA177DC-9865-F544-8510-040F42C079EF}"/>
              </a:ext>
            </a:extLst>
          </p:cNvPr>
          <p:cNvSpPr/>
          <p:nvPr/>
        </p:nvSpPr>
        <p:spPr>
          <a:xfrm>
            <a:off x="326790" y="2942867"/>
            <a:ext cx="5386916" cy="2472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« Surcouche » à l’interface web / python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Transforme le dictionnaire </a:t>
            </a:r>
            <a:r>
              <a:rPr lang="fr-FR" b="1" dirty="0"/>
              <a:t>CGI</a:t>
            </a:r>
            <a:r>
              <a:rPr lang="fr-FR" dirty="0"/>
              <a:t> d’informations sur la requête donné par le navigateur en un objet python utilisable facilement.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Garantit la structure de données et de réponses attendu par WSGI.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2549B12-3EE2-CF8C-2700-EE5DD18484D4}"/>
              </a:ext>
            </a:extLst>
          </p:cNvPr>
          <p:cNvSpPr/>
          <p:nvPr/>
        </p:nvSpPr>
        <p:spPr>
          <a:xfrm>
            <a:off x="6304467" y="2942867"/>
            <a:ext cx="5386916" cy="3678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Gère un dictionnaire mappant les URLs à des fonctions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Appelle la fonction attribuée à l’URL.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Encapsule la réponse, gère les arguments d’entrée et la requête.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Crée un environnement qui possède toutes les informations nécessaires</a:t>
            </a:r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D7391359-38BE-C5D3-1BEA-92397DA463E2}"/>
              </a:ext>
            </a:extLst>
          </p:cNvPr>
          <p:cNvGrpSpPr/>
          <p:nvPr/>
        </p:nvGrpSpPr>
        <p:grpSpPr>
          <a:xfrm>
            <a:off x="352793" y="5488338"/>
            <a:ext cx="5360914" cy="1095342"/>
            <a:chOff x="1661160" y="3886200"/>
            <a:chExt cx="5859921" cy="1877204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AA6DA42-9CE1-D849-46F2-C46DE7F3135E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CGI : Common Gateway Interface =</a:t>
              </a:r>
            </a:p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interface des serveurs HTTP : au lieu d'envoyer un fichier pour une adresse web, on exécute un programme et retourne le contenu généré.</a:t>
              </a:r>
            </a:p>
          </p:txBody>
        </p: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879C51B6-028C-E1A2-C110-5C8CE7DE2A99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6B0FA2-9AB7-EA72-2E56-0CA0ED81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519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F68B1-12BC-197A-E9BF-697FA090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D6BB04-008C-D1D3-0806-D07DFB7B75EF}"/>
              </a:ext>
            </a:extLst>
          </p:cNvPr>
          <p:cNvSpPr/>
          <p:nvPr/>
        </p:nvSpPr>
        <p:spPr>
          <a:xfrm>
            <a:off x="3151736" y="5307240"/>
            <a:ext cx="1355066" cy="3872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« Surcouche » à l’interface web / python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Transforme le dictionnaire </a:t>
            </a:r>
            <a:r>
              <a:rPr lang="fr-FR" sz="100" b="1" dirty="0"/>
              <a:t>CGI</a:t>
            </a:r>
            <a:r>
              <a:rPr lang="fr-FR" sz="100" dirty="0"/>
              <a:t> d’informations sur la requête donné par le navigateur en un objet python utilisable facilement.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Garantit la structure de données et de réponses attendu par WSGI.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6571342-F591-DF76-3F7C-0D7769625C6D}"/>
              </a:ext>
            </a:extLst>
          </p:cNvPr>
          <p:cNvSpPr/>
          <p:nvPr/>
        </p:nvSpPr>
        <p:spPr>
          <a:xfrm>
            <a:off x="2558005" y="3993266"/>
            <a:ext cx="7141580" cy="2431989"/>
          </a:xfrm>
          <a:prstGeom prst="round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BBF0339-49E1-B9D3-3F3E-B26F653D0E5B}"/>
              </a:ext>
            </a:extLst>
          </p:cNvPr>
          <p:cNvSpPr/>
          <p:nvPr/>
        </p:nvSpPr>
        <p:spPr>
          <a:xfrm>
            <a:off x="2558005" y="4537276"/>
            <a:ext cx="4720619" cy="1430823"/>
          </a:xfrm>
          <a:prstGeom prst="roundRect">
            <a:avLst/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7788D85-9792-BBF8-D941-1773B6742C62}"/>
              </a:ext>
            </a:extLst>
          </p:cNvPr>
          <p:cNvSpPr/>
          <p:nvPr/>
        </p:nvSpPr>
        <p:spPr>
          <a:xfrm>
            <a:off x="2687913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WSGI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D2A8FF-F367-2F1D-15F1-41B9770CD2C9}"/>
              </a:ext>
            </a:extLst>
          </p:cNvPr>
          <p:cNvSpPr/>
          <p:nvPr/>
        </p:nvSpPr>
        <p:spPr>
          <a:xfrm>
            <a:off x="5591796" y="5285661"/>
            <a:ext cx="947183" cy="408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Gère un dictionnaire mappant les URLs à des fonctions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Appelle la fonction attribuée à l’URL.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Encapsule la réponse, gère les arguments d’entrée et la requête.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Crée un environnement qui possède toutes les informations nécessaires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97BCD535-B1FA-967A-7A79-C3CD4C23EAD0}"/>
              </a:ext>
            </a:extLst>
          </p:cNvPr>
          <p:cNvSpPr txBox="1"/>
          <p:nvPr/>
        </p:nvSpPr>
        <p:spPr>
          <a:xfrm>
            <a:off x="2558005" y="4111455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Flask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607BA4-61FF-E458-3707-3E4C3E7675F9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2DBEC52-478E-6A73-15D7-5003393B0F72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B8DE4B3-3096-5BD0-8A9C-65EA870A4456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Jinja : Moteur de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templates</a:t>
            </a:r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5EADF4-BC32-2850-169B-C21D6CF31CBB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67C18CD-C157-BD3A-93DA-41B6FAB56FFA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4D915EC-58D4-1A68-64FC-632B983D3FAC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F81057E0-7BD9-6699-9080-D9043A38B137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EC98549-2C80-718C-8373-DBD4DC2A1803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C4C1F872-13C7-5406-5093-E0E204A396A6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BD85D4B-6911-0EFC-7BAA-3DB93EF68857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9E36916-A5BA-6026-C8ED-A07FEC7F77F7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FC9D1C4-9FBB-A758-6219-02AA1B65159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C4F02438-B146-5672-CD71-AE5347EDE209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9A38D2A9-F5D7-A6D9-673C-159849B44CA2}"/>
              </a:ext>
            </a:extLst>
          </p:cNvPr>
          <p:cNvSpPr txBox="1"/>
          <p:nvPr/>
        </p:nvSpPr>
        <p:spPr>
          <a:xfrm>
            <a:off x="384637" y="1745119"/>
            <a:ext cx="1153841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Moteur de </a:t>
            </a:r>
            <a:r>
              <a:rPr lang="fr-FR" sz="2400" dirty="0" err="1"/>
              <a:t>template</a:t>
            </a:r>
            <a:r>
              <a:rPr lang="fr-FR" sz="2400" dirty="0"/>
              <a:t> pour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Utilisé par Flask, mais peut être utilisé seul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Protection contre l’injection de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3"/>
              </a:rPr>
              <a:t>JINJA</a:t>
            </a:r>
            <a:endParaRPr lang="fr-FR" sz="2400" dirty="0"/>
          </a:p>
        </p:txBody>
      </p: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629E35EF-B6ED-7837-47F8-657BAE41123D}"/>
              </a:ext>
            </a:extLst>
          </p:cNvPr>
          <p:cNvSpPr/>
          <p:nvPr/>
        </p:nvSpPr>
        <p:spPr>
          <a:xfrm>
            <a:off x="326791" y="5119552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CE7BA600-4EAD-BAFF-3C51-3C47A69131DF}"/>
              </a:ext>
            </a:extLst>
          </p:cNvPr>
          <p:cNvSpPr/>
          <p:nvPr/>
        </p:nvSpPr>
        <p:spPr>
          <a:xfrm>
            <a:off x="5049035" y="5125687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bg1"/>
                </a:solidFill>
              </a:rPr>
              <a:t>Routing</a:t>
            </a:r>
            <a:r>
              <a:rPr lang="fr-FR" sz="24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E4FF38E7-EE69-2B5A-184F-C2DFDDBE345D}"/>
              </a:ext>
            </a:extLst>
          </p:cNvPr>
          <p:cNvSpPr/>
          <p:nvPr/>
        </p:nvSpPr>
        <p:spPr>
          <a:xfrm>
            <a:off x="7410157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Jinja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3BEE165B-1CC2-62D3-9A62-85A17C6D2104}"/>
              </a:ext>
            </a:extLst>
          </p:cNvPr>
          <p:cNvSpPr/>
          <p:nvPr/>
        </p:nvSpPr>
        <p:spPr>
          <a:xfrm>
            <a:off x="9771279" y="5112853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Réponse HTML</a:t>
            </a:r>
          </a:p>
        </p:txBody>
      </p: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97CA3D30-1EFA-A7E7-5F0A-6C9AEDB77712}"/>
              </a:ext>
            </a:extLst>
          </p:cNvPr>
          <p:cNvCxnSpPr>
            <a:cxnSpLocks/>
          </p:cNvCxnSpPr>
          <p:nvPr/>
        </p:nvCxnSpPr>
        <p:spPr>
          <a:xfrm>
            <a:off x="2287822" y="5477342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72558AFB-1A86-CD6E-94E1-1B06061E633D}"/>
              </a:ext>
            </a:extLst>
          </p:cNvPr>
          <p:cNvCxnSpPr>
            <a:cxnSpLocks/>
          </p:cNvCxnSpPr>
          <p:nvPr/>
        </p:nvCxnSpPr>
        <p:spPr>
          <a:xfrm>
            <a:off x="4668035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25CD99A5-AED2-9E1C-ECBE-564430A80B29}"/>
              </a:ext>
            </a:extLst>
          </p:cNvPr>
          <p:cNvCxnSpPr>
            <a:cxnSpLocks/>
          </p:cNvCxnSpPr>
          <p:nvPr/>
        </p:nvCxnSpPr>
        <p:spPr>
          <a:xfrm>
            <a:off x="708121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5BA709D8-CF54-AEFD-EFFB-BB87F690BD52}"/>
              </a:ext>
            </a:extLst>
          </p:cNvPr>
          <p:cNvCxnSpPr>
            <a:cxnSpLocks/>
          </p:cNvCxnSpPr>
          <p:nvPr/>
        </p:nvCxnSpPr>
        <p:spPr>
          <a:xfrm>
            <a:off x="9448492" y="5470643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93F193AF-9138-1341-8946-835D306C9F38}"/>
              </a:ext>
            </a:extLst>
          </p:cNvPr>
          <p:cNvSpPr txBox="1"/>
          <p:nvPr/>
        </p:nvSpPr>
        <p:spPr>
          <a:xfrm>
            <a:off x="2555936" y="4602600"/>
            <a:ext cx="472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Werkzeug</a:t>
            </a:r>
            <a:endParaRPr lang="fr-FR" sz="2400" dirty="0"/>
          </a:p>
        </p:txBody>
      </p: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492CAD43-9405-CD6D-6AB3-41B38920A8D8}"/>
              </a:ext>
            </a:extLst>
          </p:cNvPr>
          <p:cNvGrpSpPr/>
          <p:nvPr/>
        </p:nvGrpSpPr>
        <p:grpSpPr>
          <a:xfrm>
            <a:off x="352793" y="7096643"/>
            <a:ext cx="5360914" cy="1095342"/>
            <a:chOff x="1661160" y="3886200"/>
            <a:chExt cx="5859921" cy="1877204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2DA3D6A-1169-8BE1-8B23-48209A322F6F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CGI : Common Gateway Interface =</a:t>
              </a:r>
            </a:p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interface des serveurs HTTP : au lieu d'envoyer un fichier pour une adresse web, on exécute un programme et retourne le contenu généré.</a:t>
              </a:r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BFBE2535-11B8-5DA2-87F6-ED96507A43E8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C2DFAC7-0822-EF3F-A88F-BF0C5264E638}"/>
              </a:ext>
            </a:extLst>
          </p:cNvPr>
          <p:cNvCxnSpPr/>
          <p:nvPr/>
        </p:nvCxnSpPr>
        <p:spPr>
          <a:xfrm>
            <a:off x="8458200" y="3890665"/>
            <a:ext cx="0" cy="1173600"/>
          </a:xfrm>
          <a:prstGeom prst="straightConnector1">
            <a:avLst/>
          </a:prstGeom>
          <a:ln w="952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8FF9F3-9F11-3A8E-77EB-86221B836B58}"/>
              </a:ext>
            </a:extLst>
          </p:cNvPr>
          <p:cNvGrpSpPr/>
          <p:nvPr/>
        </p:nvGrpSpPr>
        <p:grpSpPr>
          <a:xfrm>
            <a:off x="6762377" y="2017572"/>
            <a:ext cx="5131490" cy="1010421"/>
            <a:chOff x="1661160" y="3886200"/>
            <a:chExt cx="5859921" cy="18772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02A41A-C731-4359-376E-86A1E3B6C25A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Moteur de 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template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=</a:t>
              </a:r>
            </a:p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Génère du texte (ici html) dynamiquement à partir de données Python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C954AEE-0098-FA2F-26D9-859756527974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74F5F2-A3DF-7811-0E7B-2077CBBF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81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E530-B28C-D44C-46E8-18B16E60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34A3CCE-4EB0-2C46-764D-65629F91787B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4FEE23C-06C2-8B55-10E4-5776945F5363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6C2E5AC-EAA1-885E-E8F3-4C0CCD84F448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Jinja : Moteur de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templates</a:t>
            </a:r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09B1E1-52BD-BF5A-D061-4CDAFCA61829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BFB08B4-F901-7A6E-EA5A-8F40074B712A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FB9D7C5-017F-4B32-7C4B-13CED947D660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DA63B98-6902-F22A-FAA6-DAA1D43A7265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F3E2684-5C45-C54E-907E-74BD4E636503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3E08433F-13C9-CD0B-79E2-26D382BF48BC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C68B543-8F34-86E4-03D2-469064BD191C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4EE2572-324A-58A3-6304-6C0010B21B88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0F2FA22C-FD33-39A9-531F-BA5FA47B000C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13062606-870B-89D2-0223-DA02369ECC00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9F7F54B0-E448-6665-6495-B45F577509F5}"/>
              </a:ext>
            </a:extLst>
          </p:cNvPr>
          <p:cNvSpPr txBox="1"/>
          <p:nvPr/>
        </p:nvSpPr>
        <p:spPr>
          <a:xfrm>
            <a:off x="406938" y="1899576"/>
            <a:ext cx="5689062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Sans Jinja :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B5C38BE-9097-80B0-3C04-2EEF2DE873D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96000" y="2130409"/>
            <a:ext cx="0" cy="4316411"/>
          </a:xfrm>
          <a:prstGeom prst="line">
            <a:avLst/>
          </a:prstGeom>
          <a:ln w="25400">
            <a:solidFill>
              <a:srgbClr val="C24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82CADC30-FD2D-03E5-5C1B-9494DC8220E2}"/>
              </a:ext>
            </a:extLst>
          </p:cNvPr>
          <p:cNvSpPr txBox="1"/>
          <p:nvPr/>
        </p:nvSpPr>
        <p:spPr>
          <a:xfrm>
            <a:off x="6246471" y="1623766"/>
            <a:ext cx="5689062" cy="5930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Trois syntaxes principales 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108DD05-B85D-553C-54E6-3B180DFEDF2B}"/>
              </a:ext>
            </a:extLst>
          </p:cNvPr>
          <p:cNvSpPr txBox="1"/>
          <p:nvPr/>
        </p:nvSpPr>
        <p:spPr>
          <a:xfrm>
            <a:off x="406938" y="3835094"/>
            <a:ext cx="5689062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Avec Jinja :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866EAA2-2478-2613-BD49-AD4B8C5D8BB8}"/>
              </a:ext>
            </a:extLst>
          </p:cNvPr>
          <p:cNvGrpSpPr/>
          <p:nvPr/>
        </p:nvGrpSpPr>
        <p:grpSpPr>
          <a:xfrm>
            <a:off x="481699" y="4342926"/>
            <a:ext cx="5218043" cy="2156982"/>
            <a:chOff x="481699" y="4342926"/>
            <a:chExt cx="5218043" cy="21569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810365-0169-A94A-801D-536C095F91CC}"/>
                </a:ext>
              </a:extLst>
            </p:cNvPr>
            <p:cNvSpPr/>
            <p:nvPr/>
          </p:nvSpPr>
          <p:spPr>
            <a:xfrm>
              <a:off x="481700" y="4342926"/>
              <a:ext cx="5218042" cy="2156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&gt;&gt;&gt; </a:t>
              </a:r>
              <a:r>
                <a:rPr lang="en-US" sz="16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render_template</a:t>
              </a:r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"profile.html", name=“Ricco“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‘profile.html’ :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&lt;h1&gt;Bonjour {{ name }}&lt;/h1&gt;</a:t>
              </a:r>
            </a:p>
            <a:p>
              <a:endParaRPr lang="en-US" sz="16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Renvoie</a:t>
              </a:r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&lt;h1&gt;Bonjour Ricco&lt;/h1&gt;</a:t>
              </a:r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95E644A-E7A3-8B1F-BDED-FA69A160A424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9" y="4342926"/>
              <a:ext cx="0" cy="215698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BCF7BBD6-7A3E-B5D1-634A-54C1EC3AA2BF}"/>
              </a:ext>
            </a:extLst>
          </p:cNvPr>
          <p:cNvGrpSpPr/>
          <p:nvPr/>
        </p:nvGrpSpPr>
        <p:grpSpPr>
          <a:xfrm>
            <a:off x="481699" y="2350509"/>
            <a:ext cx="5218043" cy="1253752"/>
            <a:chOff x="481699" y="2350509"/>
            <a:chExt cx="5218043" cy="12537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5669E9-C283-121B-78A4-931D83BD9EAE}"/>
                </a:ext>
              </a:extLst>
            </p:cNvPr>
            <p:cNvSpPr/>
            <p:nvPr/>
          </p:nvSpPr>
          <p:spPr>
            <a:xfrm>
              <a:off x="481699" y="2362431"/>
              <a:ext cx="5218043" cy="12418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 = "Ricco"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html = "&lt;h1&gt;Bonjour " + name + "&lt;/h1&gt;"</a:t>
              </a:r>
            </a:p>
          </p:txBody>
        </p: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5E791232-61AE-111D-CAAA-4B737CFE3D35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6" y="2350509"/>
              <a:ext cx="0" cy="125375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B2CDA5CE-8549-6E0F-A139-EBD693264C3D}"/>
              </a:ext>
            </a:extLst>
          </p:cNvPr>
          <p:cNvGrpSpPr/>
          <p:nvPr/>
        </p:nvGrpSpPr>
        <p:grpSpPr>
          <a:xfrm>
            <a:off x="6360083" y="2835953"/>
            <a:ext cx="2175901" cy="593047"/>
            <a:chOff x="481699" y="2350509"/>
            <a:chExt cx="5218043" cy="12537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23ABAA4-061C-A82D-83EC-0AE7A93A5F71}"/>
                </a:ext>
              </a:extLst>
            </p:cNvPr>
            <p:cNvSpPr/>
            <p:nvPr/>
          </p:nvSpPr>
          <p:spPr>
            <a:xfrm>
              <a:off x="481699" y="2362431"/>
              <a:ext cx="5218043" cy="12418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{{ name }}</a:t>
              </a:r>
            </a:p>
          </p:txBody>
        </p: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E28B4FBF-A5F6-CAD7-9B4D-594A764FE97B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6" y="2350509"/>
              <a:ext cx="0" cy="125375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4EE6FC58-E2D5-FD31-46A2-8CAC6DC6A2D3}"/>
              </a:ext>
            </a:extLst>
          </p:cNvPr>
          <p:cNvSpPr txBox="1"/>
          <p:nvPr/>
        </p:nvSpPr>
        <p:spPr>
          <a:xfrm>
            <a:off x="6246471" y="2361241"/>
            <a:ext cx="2289512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Variables :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2D85E181-A6B6-C844-ECEF-BE906E9EB958}"/>
              </a:ext>
            </a:extLst>
          </p:cNvPr>
          <p:cNvGrpSpPr/>
          <p:nvPr/>
        </p:nvGrpSpPr>
        <p:grpSpPr>
          <a:xfrm>
            <a:off x="6360083" y="3973593"/>
            <a:ext cx="5218043" cy="2238784"/>
            <a:chOff x="481699" y="2350509"/>
            <a:chExt cx="5218043" cy="1253752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A3F6B8-E9C4-074B-218B-0ABF09FED47C}"/>
                </a:ext>
              </a:extLst>
            </p:cNvPr>
            <p:cNvSpPr/>
            <p:nvPr/>
          </p:nvSpPr>
          <p:spPr>
            <a:xfrm>
              <a:off x="481699" y="2362431"/>
              <a:ext cx="5218043" cy="12418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{% if user %}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Bonjour {{ user }}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{% endif %}</a:t>
              </a:r>
            </a:p>
            <a:p>
              <a:endParaRPr lang="en-US" sz="16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{% for item in items %}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&lt;li&gt;{{ item }}&lt;/li&gt;</a:t>
              </a:r>
            </a:p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{% </a:t>
              </a:r>
              <a:r>
                <a:rPr lang="en-US" sz="16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endfor</a:t>
              </a:r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%}</a:t>
              </a:r>
            </a:p>
          </p:txBody>
        </p: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6691183C-8D64-E66F-43B6-E5A04A0DC647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6" y="2350509"/>
              <a:ext cx="0" cy="125375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ZoneTexte 46">
            <a:extLst>
              <a:ext uri="{FF2B5EF4-FFF2-40B4-BE49-F238E27FC236}">
                <a16:creationId xmlns:a16="http://schemas.microsoft.com/office/drawing/2014/main" id="{3DA5C162-7384-BAE1-9ADC-4397956ACEBE}"/>
              </a:ext>
            </a:extLst>
          </p:cNvPr>
          <p:cNvSpPr txBox="1"/>
          <p:nvPr/>
        </p:nvSpPr>
        <p:spPr>
          <a:xfrm>
            <a:off x="6246471" y="3536682"/>
            <a:ext cx="5689062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Structure de contrôles :</a:t>
            </a:r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2B2F362D-BD29-A745-FAF2-5A6C616F3A25}"/>
              </a:ext>
            </a:extLst>
          </p:cNvPr>
          <p:cNvGrpSpPr/>
          <p:nvPr/>
        </p:nvGrpSpPr>
        <p:grpSpPr>
          <a:xfrm>
            <a:off x="9082717" y="2825116"/>
            <a:ext cx="2495407" cy="593047"/>
            <a:chOff x="481699" y="2350509"/>
            <a:chExt cx="5218043" cy="125375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EBBDEE5-3D88-DB84-44A0-1274FD81C45C}"/>
                </a:ext>
              </a:extLst>
            </p:cNvPr>
            <p:cNvSpPr/>
            <p:nvPr/>
          </p:nvSpPr>
          <p:spPr>
            <a:xfrm>
              <a:off x="481699" y="2362431"/>
              <a:ext cx="5218043" cy="12418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{# Pas </a:t>
              </a:r>
              <a:r>
                <a:rPr lang="en-US" sz="16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affiché</a:t>
              </a:r>
              <a:r>
                <a:rPr lang="en-US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#}</a:t>
              </a:r>
            </a:p>
          </p:txBody>
        </p: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235CA665-4D78-9AF0-2E07-D6735A137B2E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6" y="2350509"/>
              <a:ext cx="0" cy="125375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9EA469D2-D1EF-ACB1-CBCF-79ED424D39FA}"/>
              </a:ext>
            </a:extLst>
          </p:cNvPr>
          <p:cNvSpPr txBox="1"/>
          <p:nvPr/>
        </p:nvSpPr>
        <p:spPr>
          <a:xfrm>
            <a:off x="8969104" y="2379927"/>
            <a:ext cx="2609018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Commentaires :</a:t>
            </a:r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3C160DD8-D170-A24C-292E-74F363FEE075}"/>
              </a:ext>
            </a:extLst>
          </p:cNvPr>
          <p:cNvGrpSpPr/>
          <p:nvPr/>
        </p:nvGrpSpPr>
        <p:grpSpPr>
          <a:xfrm>
            <a:off x="12482266" y="2017572"/>
            <a:ext cx="5131490" cy="1010421"/>
            <a:chOff x="1661160" y="3886200"/>
            <a:chExt cx="5859921" cy="187720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B50C42F-725D-AF6F-A596-D0A9E0B62543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Moteur de 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template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=</a:t>
              </a:r>
            </a:p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Génère du texte (ici html) dynamiquement à partir de données Python</a:t>
              </a:r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37F93C24-7013-2879-CE1B-91A9B48F40AC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13930019-C112-9792-13DA-4E91EE8517DB}"/>
              </a:ext>
            </a:extLst>
          </p:cNvPr>
          <p:cNvSpPr/>
          <p:nvPr/>
        </p:nvSpPr>
        <p:spPr>
          <a:xfrm>
            <a:off x="3151736" y="8337695"/>
            <a:ext cx="1355066" cy="3872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« Surcouche » à l’interface web / python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Transforme le dictionnaire </a:t>
            </a:r>
            <a:r>
              <a:rPr lang="fr-FR" sz="100" b="1" dirty="0"/>
              <a:t>CGI</a:t>
            </a:r>
            <a:r>
              <a:rPr lang="fr-FR" sz="100" dirty="0"/>
              <a:t> d’informations sur la requête donné par le navigateur en un objet python utilisable facilement.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Garantit la structure de données et de réponses attendu par WSGI.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5EA78791-EEF8-50BB-3B3B-8AE570F24E68}"/>
              </a:ext>
            </a:extLst>
          </p:cNvPr>
          <p:cNvSpPr/>
          <p:nvPr/>
        </p:nvSpPr>
        <p:spPr>
          <a:xfrm>
            <a:off x="2558005" y="7023721"/>
            <a:ext cx="7141580" cy="2431989"/>
          </a:xfrm>
          <a:prstGeom prst="round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C1327BDF-6C27-C829-8BC7-D7D80E63624B}"/>
              </a:ext>
            </a:extLst>
          </p:cNvPr>
          <p:cNvSpPr/>
          <p:nvPr/>
        </p:nvSpPr>
        <p:spPr>
          <a:xfrm>
            <a:off x="2558005" y="7567731"/>
            <a:ext cx="4720619" cy="1430823"/>
          </a:xfrm>
          <a:prstGeom prst="roundRect">
            <a:avLst/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DFBE49A-9EFF-1E98-723B-A7BC1887F5AA}"/>
              </a:ext>
            </a:extLst>
          </p:cNvPr>
          <p:cNvSpPr/>
          <p:nvPr/>
        </p:nvSpPr>
        <p:spPr>
          <a:xfrm>
            <a:off x="2687913" y="8143308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WSGI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9B5E61-109E-1FE0-26FC-630BA7FD71DF}"/>
              </a:ext>
            </a:extLst>
          </p:cNvPr>
          <p:cNvSpPr/>
          <p:nvPr/>
        </p:nvSpPr>
        <p:spPr>
          <a:xfrm>
            <a:off x="5591796" y="8316116"/>
            <a:ext cx="947183" cy="408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Gère un dictionnaire mappant les URLs à des fonctions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Appelle la fonction attribuée à l’URL.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Encapsule la réponse, gère les arguments d’entrée et la requête.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100" dirty="0"/>
              <a:t>Crée un environnement qui possède toutes les informations nécessaires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61F74F43-A8EE-1CD6-45B8-78FE0DDC637E}"/>
              </a:ext>
            </a:extLst>
          </p:cNvPr>
          <p:cNvSpPr txBox="1"/>
          <p:nvPr/>
        </p:nvSpPr>
        <p:spPr>
          <a:xfrm>
            <a:off x="2558005" y="7141910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Flask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893D9A11-33D8-82D4-97E4-9ED169502D88}"/>
              </a:ext>
            </a:extLst>
          </p:cNvPr>
          <p:cNvSpPr/>
          <p:nvPr/>
        </p:nvSpPr>
        <p:spPr>
          <a:xfrm>
            <a:off x="326791" y="8150007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5EE7CB30-296D-3744-799F-169BE1AACCDD}"/>
              </a:ext>
            </a:extLst>
          </p:cNvPr>
          <p:cNvSpPr/>
          <p:nvPr/>
        </p:nvSpPr>
        <p:spPr>
          <a:xfrm>
            <a:off x="5049035" y="8156142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bg1"/>
                </a:solidFill>
              </a:rPr>
              <a:t>Routing</a:t>
            </a:r>
            <a:r>
              <a:rPr lang="fr-FR" sz="24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FD9F598D-A828-A4CE-4203-3AB000A7496F}"/>
              </a:ext>
            </a:extLst>
          </p:cNvPr>
          <p:cNvSpPr/>
          <p:nvPr/>
        </p:nvSpPr>
        <p:spPr>
          <a:xfrm>
            <a:off x="7410157" y="8143308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Jinja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44721777-AD10-2C5D-2897-EF54F5E308BE}"/>
              </a:ext>
            </a:extLst>
          </p:cNvPr>
          <p:cNvSpPr/>
          <p:nvPr/>
        </p:nvSpPr>
        <p:spPr>
          <a:xfrm>
            <a:off x="9771279" y="8143308"/>
            <a:ext cx="2093930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Réponse HTML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EA4665AA-5F84-2BF6-A149-250276E630C2}"/>
              </a:ext>
            </a:extLst>
          </p:cNvPr>
          <p:cNvCxnSpPr>
            <a:cxnSpLocks/>
          </p:cNvCxnSpPr>
          <p:nvPr/>
        </p:nvCxnSpPr>
        <p:spPr>
          <a:xfrm>
            <a:off x="2287822" y="8507797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E115EC3-578B-1ACD-A163-2442E771E265}"/>
              </a:ext>
            </a:extLst>
          </p:cNvPr>
          <p:cNvCxnSpPr>
            <a:cxnSpLocks/>
          </p:cNvCxnSpPr>
          <p:nvPr/>
        </p:nvCxnSpPr>
        <p:spPr>
          <a:xfrm>
            <a:off x="4668035" y="8501098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15E762F1-DB0E-2B2E-A990-4F9470A9E6EB}"/>
              </a:ext>
            </a:extLst>
          </p:cNvPr>
          <p:cNvCxnSpPr>
            <a:cxnSpLocks/>
          </p:cNvCxnSpPr>
          <p:nvPr/>
        </p:nvCxnSpPr>
        <p:spPr>
          <a:xfrm>
            <a:off x="7081212" y="8501098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260C2249-91C1-6A4B-6AA1-FAAF6E5C886A}"/>
              </a:ext>
            </a:extLst>
          </p:cNvPr>
          <p:cNvCxnSpPr>
            <a:cxnSpLocks/>
          </p:cNvCxnSpPr>
          <p:nvPr/>
        </p:nvCxnSpPr>
        <p:spPr>
          <a:xfrm>
            <a:off x="9448492" y="8501098"/>
            <a:ext cx="556260" cy="0"/>
          </a:xfrm>
          <a:prstGeom prst="straightConnector1">
            <a:avLst/>
          </a:prstGeom>
          <a:ln w="63500">
            <a:solidFill>
              <a:srgbClr val="C244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29A36B4D-5F64-3A4A-443D-B573982B9B0C}"/>
              </a:ext>
            </a:extLst>
          </p:cNvPr>
          <p:cNvSpPr txBox="1"/>
          <p:nvPr/>
        </p:nvSpPr>
        <p:spPr>
          <a:xfrm>
            <a:off x="2555936" y="7633055"/>
            <a:ext cx="472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Werkzeug</a:t>
            </a:r>
            <a:endParaRPr lang="fr-FR" sz="2400" dirty="0"/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CD4489F0-BA28-DCC5-37AA-43CA8B3C9C26}"/>
              </a:ext>
            </a:extLst>
          </p:cNvPr>
          <p:cNvCxnSpPr/>
          <p:nvPr/>
        </p:nvCxnSpPr>
        <p:spPr>
          <a:xfrm>
            <a:off x="8458200" y="6921120"/>
            <a:ext cx="0" cy="1173600"/>
          </a:xfrm>
          <a:prstGeom prst="straightConnector1">
            <a:avLst/>
          </a:prstGeom>
          <a:ln w="952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A0520F6-393D-FF26-77F1-CEFCAA4F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87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B236-B2E3-72B9-D4FB-3E13077C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5C0AC8-703D-03F1-8E9F-E7E50F6D3539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505D9E-A358-2D76-4702-3DB9FE8C7F3B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CDBE7B2-E632-4160-CC2B-B85A5605EB41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Exemple d’une requête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E5D76B-5FCD-0932-4F5D-D70E1270F314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5E0B36C-FBD8-22A2-2F93-1398617987B0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3AB9902B-3AE4-59A1-6EF3-4343C05786D0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E5BEFE0-C081-A56B-D922-024DCC443791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322640E8-88B9-3D8A-D748-1A4AFBF59BEF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4FA6D6F-6C3D-2DA2-8A31-451FD97FFA60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65921DA6-E5ED-28BF-5ED9-A51E421D2BA5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F784CF9-B0FD-8B2A-45FC-7F427DDFBCBB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94EB1853-CB73-1EB1-1475-807AD59526B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32E8D4E-1148-7921-09D5-DBC61B9FEE06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7C288BA-9232-8EC9-C04F-C917D816E91E}"/>
              </a:ext>
            </a:extLst>
          </p:cNvPr>
          <p:cNvGrpSpPr/>
          <p:nvPr/>
        </p:nvGrpSpPr>
        <p:grpSpPr>
          <a:xfrm>
            <a:off x="352793" y="7096643"/>
            <a:ext cx="5360914" cy="1095342"/>
            <a:chOff x="1661160" y="3886200"/>
            <a:chExt cx="5859921" cy="187720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8F7296-B119-A5E3-7F82-2847B8412FB8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CGI : Common Gateway Interface =</a:t>
              </a:r>
            </a:p>
            <a:p>
              <a:pPr algn="ctr"/>
              <a:r>
                <a:rPr lang="fr-FR" sz="16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interface des serveurs HTTP : au lieu d'envoyer un fichier pour une adresse web, on exécute un programme et retourne le contenu généré.</a:t>
              </a:r>
            </a:p>
          </p:txBody>
        </p: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63742A44-C40C-3EF8-F620-4770808DA919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e 168">
            <a:extLst>
              <a:ext uri="{FF2B5EF4-FFF2-40B4-BE49-F238E27FC236}">
                <a16:creationId xmlns:a16="http://schemas.microsoft.com/office/drawing/2014/main" id="{B250916C-A88C-FBE0-C7F1-43B3B33A1A73}"/>
              </a:ext>
            </a:extLst>
          </p:cNvPr>
          <p:cNvGrpSpPr/>
          <p:nvPr/>
        </p:nvGrpSpPr>
        <p:grpSpPr>
          <a:xfrm>
            <a:off x="397469" y="3324251"/>
            <a:ext cx="31671950" cy="3256729"/>
            <a:chOff x="397469" y="3324251"/>
            <a:chExt cx="31671950" cy="3256729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183E99CE-B2EB-450E-BD4D-D7B4F977003E}"/>
                </a:ext>
              </a:extLst>
            </p:cNvPr>
            <p:cNvGrpSpPr/>
            <p:nvPr/>
          </p:nvGrpSpPr>
          <p:grpSpPr>
            <a:xfrm>
              <a:off x="397469" y="3351496"/>
              <a:ext cx="4101402" cy="1609109"/>
              <a:chOff x="1661160" y="3886200"/>
              <a:chExt cx="5859921" cy="187720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C221B1-A08C-0877-DF4A-82062880013E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 /profile HTTP/1.1</a:t>
                </a:r>
              </a:p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Host: bonjour.com</a:t>
                </a:r>
              </a:p>
            </p:txBody>
          </p: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270308A9-26AF-8EFB-A913-026FF2DE28FC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9D1953E1-2528-E028-FDB8-1507859ECFA3}"/>
                </a:ext>
              </a:extLst>
            </p:cNvPr>
            <p:cNvGrpSpPr/>
            <p:nvPr/>
          </p:nvGrpSpPr>
          <p:grpSpPr>
            <a:xfrm>
              <a:off x="3922821" y="4825454"/>
              <a:ext cx="4011963" cy="1609109"/>
              <a:chOff x="1661160" y="3886200"/>
              <a:chExt cx="5859921" cy="187720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83D53E4-BC12-A4AD-D221-D62ED25721F2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environ = {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"REQUEST_METHOD": "GET",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"PATH_INFO": "/profile",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"HTTP_HOST": "bonjour.com",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...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45CAE70F-8D0A-99D3-B745-A3265DC6FC17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EC05EA94-9359-A194-097D-0C8CC5A50856}"/>
                </a:ext>
              </a:extLst>
            </p:cNvPr>
            <p:cNvGrpSpPr/>
            <p:nvPr/>
          </p:nvGrpSpPr>
          <p:grpSpPr>
            <a:xfrm>
              <a:off x="7988196" y="3324251"/>
              <a:ext cx="4011963" cy="1609109"/>
              <a:chOff x="1661160" y="3886200"/>
              <a:chExt cx="5859921" cy="1877204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8FF58A7-F5CB-39F5-768D-EAD18B972C80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(environ)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request.method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# "GET"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request.path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# "/profile"</a:t>
                </a:r>
              </a:p>
            </p:txBody>
          </p:sp>
          <p:cxnSp>
            <p:nvCxnSpPr>
              <p:cNvPr id="65" name="Connecteur droit 64">
                <a:extLst>
                  <a:ext uri="{FF2B5EF4-FFF2-40B4-BE49-F238E27FC236}">
                    <a16:creationId xmlns:a16="http://schemas.microsoft.com/office/drawing/2014/main" id="{F4FB3D5C-E2A3-0F9F-14D3-205BFBCDF792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Connecteur : en arc 70">
              <a:extLst>
                <a:ext uri="{FF2B5EF4-FFF2-40B4-BE49-F238E27FC236}">
                  <a16:creationId xmlns:a16="http://schemas.microsoft.com/office/drawing/2014/main" id="{7E209FB6-DF6A-57CE-2C79-1034AEDE58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80886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 : en arc 100">
              <a:extLst>
                <a:ext uri="{FF2B5EF4-FFF2-40B4-BE49-F238E27FC236}">
                  <a16:creationId xmlns:a16="http://schemas.microsoft.com/office/drawing/2014/main" id="{625EF980-FC1E-2AF3-E68D-883640CA28D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647951" y="3484745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eur : en arc 103">
              <a:extLst>
                <a:ext uri="{FF2B5EF4-FFF2-40B4-BE49-F238E27FC236}">
                  <a16:creationId xmlns:a16="http://schemas.microsoft.com/office/drawing/2014/main" id="{932E5779-51AB-1B3D-5631-DFFF8798A68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1211100" y="5087506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e 104">
              <a:extLst>
                <a:ext uri="{FF2B5EF4-FFF2-40B4-BE49-F238E27FC236}">
                  <a16:creationId xmlns:a16="http://schemas.microsoft.com/office/drawing/2014/main" id="{73D70055-9B7F-7AD7-C10D-B50A20D5E66B}"/>
                </a:ext>
              </a:extLst>
            </p:cNvPr>
            <p:cNvGrpSpPr/>
            <p:nvPr/>
          </p:nvGrpSpPr>
          <p:grpSpPr>
            <a:xfrm>
              <a:off x="12325055" y="4933359"/>
              <a:ext cx="3875064" cy="1412588"/>
              <a:chOff x="1661160" y="3485014"/>
              <a:chExt cx="5859921" cy="1877205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8748AFB5-7606-B57B-9F1D-F0587D869A3A}"/>
                  </a:ext>
                </a:extLst>
              </p:cNvPr>
              <p:cNvSpPr/>
              <p:nvPr/>
            </p:nvSpPr>
            <p:spPr>
              <a:xfrm>
                <a:off x="1661160" y="3485014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@app.route("/profile")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def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profile():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render_template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"profile.html",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107" name="Connecteur droit 106">
                <a:extLst>
                  <a:ext uri="{FF2B5EF4-FFF2-40B4-BE49-F238E27FC236}">
                    <a16:creationId xmlns:a16="http://schemas.microsoft.com/office/drawing/2014/main" id="{DE0F75E2-BA46-2617-402C-C1F30FF3E93D}"/>
                  </a:ext>
                </a:extLst>
              </p:cNvPr>
              <p:cNvCxnSpPr/>
              <p:nvPr/>
            </p:nvCxnSpPr>
            <p:spPr>
              <a:xfrm>
                <a:off x="1661160" y="3485015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F76D7298-B5C3-1C7B-A3CC-3C7CAE3F3CB4}"/>
                </a:ext>
              </a:extLst>
            </p:cNvPr>
            <p:cNvGrpSpPr/>
            <p:nvPr/>
          </p:nvGrpSpPr>
          <p:grpSpPr>
            <a:xfrm>
              <a:off x="16324476" y="3324251"/>
              <a:ext cx="3875064" cy="1412587"/>
              <a:chOff x="1661160" y="3886200"/>
              <a:chExt cx="5859921" cy="1877204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3F39B0D9-C072-233A-C4E5-31B5AA19B11C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{{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}}&lt;/h1&gt;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&gt;&gt;&gt; 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</a:t>
                </a:r>
              </a:p>
            </p:txBody>
          </p:sp>
          <p:cxnSp>
            <p:nvCxnSpPr>
              <p:cNvPr id="110" name="Connecteur droit 109">
                <a:extLst>
                  <a:ext uri="{FF2B5EF4-FFF2-40B4-BE49-F238E27FC236}">
                    <a16:creationId xmlns:a16="http://schemas.microsoft.com/office/drawing/2014/main" id="{D7B5B3E1-7AD3-DE0A-6068-3BFD665A10DD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Connecteur : en arc 110">
              <a:extLst>
                <a:ext uri="{FF2B5EF4-FFF2-40B4-BE49-F238E27FC236}">
                  <a16:creationId xmlns:a16="http://schemas.microsoft.com/office/drawing/2014/main" id="{076165D1-A33F-E830-42D1-7CDC22B7A9E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4717696" y="3490826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 : en arc 111">
              <a:extLst>
                <a:ext uri="{FF2B5EF4-FFF2-40B4-BE49-F238E27FC236}">
                  <a16:creationId xmlns:a16="http://schemas.microsoft.com/office/drawing/2014/main" id="{57EB31DE-6B6B-0D14-80F9-43DBCCD33CE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35050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1B486779-71B3-2C8A-0236-6238D155467B}"/>
                </a:ext>
              </a:extLst>
            </p:cNvPr>
            <p:cNvGrpSpPr/>
            <p:nvPr/>
          </p:nvGrpSpPr>
          <p:grpSpPr>
            <a:xfrm>
              <a:off x="20323898" y="4825454"/>
              <a:ext cx="3875064" cy="1755526"/>
              <a:chOff x="1661160" y="3886200"/>
              <a:chExt cx="5859921" cy="1877204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B278DF86-268D-9D18-ADA9-ED8C718FD23F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Response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status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=200,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headers={"Content-Type": 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text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/html"}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116" name="Connecteur droit 115">
                <a:extLst>
                  <a:ext uri="{FF2B5EF4-FFF2-40B4-BE49-F238E27FC236}">
                    <a16:creationId xmlns:a16="http://schemas.microsoft.com/office/drawing/2014/main" id="{F2E39BBC-50F4-2594-138A-1C9CF9B12D51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8" name="Connecteur : en arc 117">
              <a:extLst>
                <a:ext uri="{FF2B5EF4-FFF2-40B4-BE49-F238E27FC236}">
                  <a16:creationId xmlns:a16="http://schemas.microsoft.com/office/drawing/2014/main" id="{0CAA1DD5-B565-E023-94F2-696F50AAE24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860955" y="3289223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418221FA-A742-79BB-F1CA-678BD195FEC2}"/>
                </a:ext>
              </a:extLst>
            </p:cNvPr>
            <p:cNvGrpSpPr/>
            <p:nvPr/>
          </p:nvGrpSpPr>
          <p:grpSpPr>
            <a:xfrm>
              <a:off x="24523857" y="3440178"/>
              <a:ext cx="3618290" cy="1412587"/>
              <a:chOff x="1661160" y="3886200"/>
              <a:chExt cx="5859921" cy="1877204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8CBCCDF-1CE8-6B0D-64A3-4D3A6AE93229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[b"&lt;h1&gt;Bonjour Ricco&lt;/h1&gt;"]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1" name="Connecteur droit 120">
                <a:extLst>
                  <a:ext uri="{FF2B5EF4-FFF2-40B4-BE49-F238E27FC236}">
                    <a16:creationId xmlns:a16="http://schemas.microsoft.com/office/drawing/2014/main" id="{6D2F075A-70F2-4B05-DE18-54A114EB925D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Connecteur : en arc 122">
              <a:extLst>
                <a:ext uri="{FF2B5EF4-FFF2-40B4-BE49-F238E27FC236}">
                  <a16:creationId xmlns:a16="http://schemas.microsoft.com/office/drawing/2014/main" id="{FA1CE046-BBE9-D554-79B0-5D0AD665F77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309893" y="5087507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472A76B8-83D9-0D2B-6F64-9B023DDE9B0A}"/>
                </a:ext>
              </a:extLst>
            </p:cNvPr>
            <p:cNvGrpSpPr/>
            <p:nvPr/>
          </p:nvGrpSpPr>
          <p:grpSpPr>
            <a:xfrm>
              <a:off x="28451129" y="4996923"/>
              <a:ext cx="3618290" cy="1412587"/>
              <a:chOff x="1661160" y="3886200"/>
              <a:chExt cx="5859921" cy="1877204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4C8A745-9ECE-D7C9-EB90-233A0D83AD98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HTTP/1.1 200 OK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Content-Type: text/html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Content-Length: 24</a:t>
                </a:r>
              </a:p>
              <a:p>
                <a:endParaRPr lang="pt-B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Ricco&lt;/h1&gt;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6" name="Connecteur droit 125">
                <a:extLst>
                  <a:ext uri="{FF2B5EF4-FFF2-40B4-BE49-F238E27FC236}">
                    <a16:creationId xmlns:a16="http://schemas.microsoft.com/office/drawing/2014/main" id="{4F7509BA-459E-013B-E49D-21F71C800C72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3" name="Groupe 152">
            <a:extLst>
              <a:ext uri="{FF2B5EF4-FFF2-40B4-BE49-F238E27FC236}">
                <a16:creationId xmlns:a16="http://schemas.microsoft.com/office/drawing/2014/main" id="{414040D8-17E3-91EC-4E9D-87EFA7B640ED}"/>
              </a:ext>
            </a:extLst>
          </p:cNvPr>
          <p:cNvGrpSpPr/>
          <p:nvPr/>
        </p:nvGrpSpPr>
        <p:grpSpPr>
          <a:xfrm>
            <a:off x="432080" y="2018326"/>
            <a:ext cx="31536077" cy="1112128"/>
            <a:chOff x="-11865210" y="2018326"/>
            <a:chExt cx="31536077" cy="1112128"/>
          </a:xfrm>
        </p:grpSpPr>
        <p:sp>
          <p:nvSpPr>
            <p:cNvPr id="154" name="Rectangle : coins arrondis 153">
              <a:extLst>
                <a:ext uri="{FF2B5EF4-FFF2-40B4-BE49-F238E27FC236}">
                  <a16:creationId xmlns:a16="http://schemas.microsoft.com/office/drawing/2014/main" id="{77B9597E-5C35-B4B1-70B2-FAC47705738F}"/>
                </a:ext>
              </a:extLst>
            </p:cNvPr>
            <p:cNvSpPr/>
            <p:nvPr/>
          </p:nvSpPr>
          <p:spPr>
            <a:xfrm>
              <a:off x="-7865789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155" name="Rectangle : coins arrondis 154">
              <a:extLst>
                <a:ext uri="{FF2B5EF4-FFF2-40B4-BE49-F238E27FC236}">
                  <a16:creationId xmlns:a16="http://schemas.microsoft.com/office/drawing/2014/main" id="{BC6C1305-C682-2DFC-29E2-94A1443855C6}"/>
                </a:ext>
              </a:extLst>
            </p:cNvPr>
            <p:cNvSpPr/>
            <p:nvPr/>
          </p:nvSpPr>
          <p:spPr>
            <a:xfrm>
              <a:off x="-1186521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Navigateur</a:t>
              </a:r>
            </a:p>
          </p:txBody>
        </p:sp>
        <p:sp>
          <p:nvSpPr>
            <p:cNvPr id="156" name="Rectangle : coins arrondis 155">
              <a:extLst>
                <a:ext uri="{FF2B5EF4-FFF2-40B4-BE49-F238E27FC236}">
                  <a16:creationId xmlns:a16="http://schemas.microsoft.com/office/drawing/2014/main" id="{CF77B2D8-5A78-00C8-C449-85EB487E426E}"/>
                </a:ext>
              </a:extLst>
            </p:cNvPr>
            <p:cNvSpPr/>
            <p:nvPr/>
          </p:nvSpPr>
          <p:spPr>
            <a:xfrm>
              <a:off x="-3866367" y="2035112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57" name="Rectangle : coins arrondis 156">
              <a:extLst>
                <a:ext uri="{FF2B5EF4-FFF2-40B4-BE49-F238E27FC236}">
                  <a16:creationId xmlns:a16="http://schemas.microsoft.com/office/drawing/2014/main" id="{F7A5A6E2-04DA-815B-71B0-957343E1338B}"/>
                </a:ext>
              </a:extLst>
            </p:cNvPr>
            <p:cNvSpPr/>
            <p:nvPr/>
          </p:nvSpPr>
          <p:spPr>
            <a:xfrm>
              <a:off x="467994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Flask</a:t>
              </a:r>
            </a:p>
          </p:txBody>
        </p:sp>
        <p:sp>
          <p:nvSpPr>
            <p:cNvPr id="158" name="Rectangle : coins arrondis 157">
              <a:extLst>
                <a:ext uri="{FF2B5EF4-FFF2-40B4-BE49-F238E27FC236}">
                  <a16:creationId xmlns:a16="http://schemas.microsoft.com/office/drawing/2014/main" id="{6C3DA910-D5E8-7E8C-52E6-303B0895B581}"/>
                </a:ext>
              </a:extLst>
            </p:cNvPr>
            <p:cNvSpPr/>
            <p:nvPr/>
          </p:nvSpPr>
          <p:spPr>
            <a:xfrm>
              <a:off x="4467416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Jinja</a:t>
              </a:r>
            </a:p>
          </p:txBody>
        </p:sp>
        <p:sp>
          <p:nvSpPr>
            <p:cNvPr id="159" name="Rectangle : coins arrondis 158">
              <a:extLst>
                <a:ext uri="{FF2B5EF4-FFF2-40B4-BE49-F238E27FC236}">
                  <a16:creationId xmlns:a16="http://schemas.microsoft.com/office/drawing/2014/main" id="{4173420E-0B7C-794D-3DCB-6B63669309D0}"/>
                </a:ext>
              </a:extLst>
            </p:cNvPr>
            <p:cNvSpPr/>
            <p:nvPr/>
          </p:nvSpPr>
          <p:spPr>
            <a:xfrm>
              <a:off x="8466838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60" name="Rectangle : coins arrondis 159">
              <a:extLst>
                <a:ext uri="{FF2B5EF4-FFF2-40B4-BE49-F238E27FC236}">
                  <a16:creationId xmlns:a16="http://schemas.microsoft.com/office/drawing/2014/main" id="{7AF1F889-2176-6781-32B5-442C3027C577}"/>
                </a:ext>
              </a:extLst>
            </p:cNvPr>
            <p:cNvSpPr/>
            <p:nvPr/>
          </p:nvSpPr>
          <p:spPr>
            <a:xfrm>
              <a:off x="1246626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161" name="Rectangle : coins arrondis 160">
              <a:extLst>
                <a:ext uri="{FF2B5EF4-FFF2-40B4-BE49-F238E27FC236}">
                  <a16:creationId xmlns:a16="http://schemas.microsoft.com/office/drawing/2014/main" id="{717E3306-E533-1FD9-18B3-032FC2A780F0}"/>
                </a:ext>
              </a:extLst>
            </p:cNvPr>
            <p:cNvSpPr/>
            <p:nvPr/>
          </p:nvSpPr>
          <p:spPr>
            <a:xfrm>
              <a:off x="16465682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Réponse HTML</a:t>
              </a:r>
            </a:p>
          </p:txBody>
        </p:sp>
        <p:cxnSp>
          <p:nvCxnSpPr>
            <p:cNvPr id="162" name="Connecteur droit avec flèche 161">
              <a:extLst>
                <a:ext uri="{FF2B5EF4-FFF2-40B4-BE49-F238E27FC236}">
                  <a16:creationId xmlns:a16="http://schemas.microsoft.com/office/drawing/2014/main" id="{A9AEF337-DE34-3389-E463-065B308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-882543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 droit avec flèche 162">
              <a:extLst>
                <a:ext uri="{FF2B5EF4-FFF2-40B4-BE49-F238E27FC236}">
                  <a16:creationId xmlns:a16="http://schemas.microsoft.com/office/drawing/2014/main" id="{77410022-36DB-34B1-4B56-995D362EEDC9}"/>
                </a:ext>
              </a:extLst>
            </p:cNvPr>
            <p:cNvCxnSpPr>
              <a:cxnSpLocks/>
            </p:cNvCxnSpPr>
            <p:nvPr/>
          </p:nvCxnSpPr>
          <p:spPr>
            <a:xfrm>
              <a:off x="-476995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77ECCC65-4E3B-3C7E-21FD-4E82FCA0BF47}"/>
                </a:ext>
              </a:extLst>
            </p:cNvPr>
            <p:cNvCxnSpPr>
              <a:cxnSpLocks/>
            </p:cNvCxnSpPr>
            <p:nvPr/>
          </p:nvCxnSpPr>
          <p:spPr>
            <a:xfrm>
              <a:off x="-929640" y="2584087"/>
              <a:ext cx="167042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eur droit avec flèche 164">
              <a:extLst>
                <a:ext uri="{FF2B5EF4-FFF2-40B4-BE49-F238E27FC236}">
                  <a16:creationId xmlns:a16="http://schemas.microsoft.com/office/drawing/2014/main" id="{3C788824-083C-DB24-8E53-6319D8D34963}"/>
                </a:ext>
              </a:extLst>
            </p:cNvPr>
            <p:cNvCxnSpPr>
              <a:cxnSpLocks/>
            </p:cNvCxnSpPr>
            <p:nvPr/>
          </p:nvCxnSpPr>
          <p:spPr>
            <a:xfrm>
              <a:off x="3566321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eur droit avec flèche 165">
              <a:extLst>
                <a:ext uri="{FF2B5EF4-FFF2-40B4-BE49-F238E27FC236}">
                  <a16:creationId xmlns:a16="http://schemas.microsoft.com/office/drawing/2014/main" id="{9D4EC001-80BE-EE59-F9DD-73C57CBF5DE5}"/>
                </a:ext>
              </a:extLst>
            </p:cNvPr>
            <p:cNvCxnSpPr>
              <a:cxnSpLocks/>
            </p:cNvCxnSpPr>
            <p:nvPr/>
          </p:nvCxnSpPr>
          <p:spPr>
            <a:xfrm>
              <a:off x="750721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eur droit avec flèche 166">
              <a:extLst>
                <a:ext uri="{FF2B5EF4-FFF2-40B4-BE49-F238E27FC236}">
                  <a16:creationId xmlns:a16="http://schemas.microsoft.com/office/drawing/2014/main" id="{1DF6D131-5C3E-295B-5B92-9C168588822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0807" y="2516414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 droit avec flèche 167">
              <a:extLst>
                <a:ext uri="{FF2B5EF4-FFF2-40B4-BE49-F238E27FC236}">
                  <a16:creationId xmlns:a16="http://schemas.microsoft.com/office/drawing/2014/main" id="{73B395E2-9B79-27CF-BD07-9F2B86FE2596}"/>
                </a:ext>
              </a:extLst>
            </p:cNvPr>
            <p:cNvCxnSpPr>
              <a:cxnSpLocks/>
            </p:cNvCxnSpPr>
            <p:nvPr/>
          </p:nvCxnSpPr>
          <p:spPr>
            <a:xfrm>
              <a:off x="15442794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D643B99-7C7A-1925-C08E-85EB1B58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18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8A11-DE06-6CCA-2A73-A6ECCD68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DEDEF6A-9B95-1A6B-E4D9-F4F3114E5830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2646290-88CB-A812-A749-0ACD6680BC5B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E491E73-7EA1-C27B-3933-2CB2BC8C3B62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Exemple d’une requête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5EA9A-9B27-1A8D-D45E-0A580B5913EB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7C8B078-2E4E-76BC-DA83-B2ADA7952D45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1345562-84C5-983E-851F-DD386A74E71B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9938D93-AA13-EC08-842B-A8B82D835EE0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5C332EC-C7C0-A9AD-AE6F-D4D10C564A7C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0D493EB5-4DC9-B47B-4C6E-A9369C670D5C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699FD329-C188-DB44-99A6-D07D4187F477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8BF3019-35F0-5EC3-11C9-A05FF2157DAB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C06E4081-8297-C898-AC69-364100326E97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DCE12DC-E547-3D44-5737-88A533071427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9A77E05B-C38D-8771-FD7D-5A26F43AA087}"/>
              </a:ext>
            </a:extLst>
          </p:cNvPr>
          <p:cNvGrpSpPr/>
          <p:nvPr/>
        </p:nvGrpSpPr>
        <p:grpSpPr>
          <a:xfrm>
            <a:off x="-11865210" y="2018326"/>
            <a:ext cx="31536077" cy="1112128"/>
            <a:chOff x="-11865210" y="2018326"/>
            <a:chExt cx="31536077" cy="1112128"/>
          </a:xfrm>
        </p:grpSpPr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BB36D4A0-57E4-2CF6-F689-8234BAB98AAF}"/>
                </a:ext>
              </a:extLst>
            </p:cNvPr>
            <p:cNvSpPr/>
            <p:nvPr/>
          </p:nvSpPr>
          <p:spPr>
            <a:xfrm>
              <a:off x="-7865789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8F965A75-C85E-8C0E-359D-3CCB96BE62C3}"/>
                </a:ext>
              </a:extLst>
            </p:cNvPr>
            <p:cNvSpPr/>
            <p:nvPr/>
          </p:nvSpPr>
          <p:spPr>
            <a:xfrm>
              <a:off x="-1186521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Navigateur</a:t>
              </a:r>
            </a:p>
          </p:txBody>
        </p:sp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D479FCC3-2D0F-C016-7C60-3D5E0172A8D0}"/>
                </a:ext>
              </a:extLst>
            </p:cNvPr>
            <p:cNvSpPr/>
            <p:nvPr/>
          </p:nvSpPr>
          <p:spPr>
            <a:xfrm>
              <a:off x="-3866367" y="2035112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E0F557D4-D2E4-8221-7E11-07D9C476720F}"/>
                </a:ext>
              </a:extLst>
            </p:cNvPr>
            <p:cNvSpPr/>
            <p:nvPr/>
          </p:nvSpPr>
          <p:spPr>
            <a:xfrm>
              <a:off x="467994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Flask</a:t>
              </a:r>
            </a:p>
          </p:txBody>
        </p:sp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97C8D9E6-0BD3-966C-2169-AA790378AD4B}"/>
                </a:ext>
              </a:extLst>
            </p:cNvPr>
            <p:cNvSpPr/>
            <p:nvPr/>
          </p:nvSpPr>
          <p:spPr>
            <a:xfrm>
              <a:off x="4467416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Jinja</a:t>
              </a:r>
            </a:p>
          </p:txBody>
        </p:sp>
        <p:sp>
          <p:nvSpPr>
            <p:cNvPr id="113" name="Rectangle : coins arrondis 112">
              <a:extLst>
                <a:ext uri="{FF2B5EF4-FFF2-40B4-BE49-F238E27FC236}">
                  <a16:creationId xmlns:a16="http://schemas.microsoft.com/office/drawing/2014/main" id="{827A6449-E6BE-688A-35A6-318371CB37A3}"/>
                </a:ext>
              </a:extLst>
            </p:cNvPr>
            <p:cNvSpPr/>
            <p:nvPr/>
          </p:nvSpPr>
          <p:spPr>
            <a:xfrm>
              <a:off x="8466838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7" name="Rectangle : coins arrondis 116">
              <a:extLst>
                <a:ext uri="{FF2B5EF4-FFF2-40B4-BE49-F238E27FC236}">
                  <a16:creationId xmlns:a16="http://schemas.microsoft.com/office/drawing/2014/main" id="{6AAE80D3-FBFF-CAB4-C0D3-82384067098D}"/>
                </a:ext>
              </a:extLst>
            </p:cNvPr>
            <p:cNvSpPr/>
            <p:nvPr/>
          </p:nvSpPr>
          <p:spPr>
            <a:xfrm>
              <a:off x="1246626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122" name="Rectangle : coins arrondis 121">
              <a:extLst>
                <a:ext uri="{FF2B5EF4-FFF2-40B4-BE49-F238E27FC236}">
                  <a16:creationId xmlns:a16="http://schemas.microsoft.com/office/drawing/2014/main" id="{D4307883-D30F-3D56-CA2B-7CF301660473}"/>
                </a:ext>
              </a:extLst>
            </p:cNvPr>
            <p:cNvSpPr/>
            <p:nvPr/>
          </p:nvSpPr>
          <p:spPr>
            <a:xfrm>
              <a:off x="16465682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Réponse HTML</a:t>
              </a:r>
            </a:p>
          </p:txBody>
        </p:sp>
        <p:cxnSp>
          <p:nvCxnSpPr>
            <p:cNvPr id="129" name="Connecteur droit avec flèche 128">
              <a:extLst>
                <a:ext uri="{FF2B5EF4-FFF2-40B4-BE49-F238E27FC236}">
                  <a16:creationId xmlns:a16="http://schemas.microsoft.com/office/drawing/2014/main" id="{B1CD5B84-1096-34ED-9296-C585C9CBC223}"/>
                </a:ext>
              </a:extLst>
            </p:cNvPr>
            <p:cNvCxnSpPr>
              <a:cxnSpLocks/>
            </p:cNvCxnSpPr>
            <p:nvPr/>
          </p:nvCxnSpPr>
          <p:spPr>
            <a:xfrm>
              <a:off x="-882543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8A925246-83BA-A2FB-CA48-EE765821FDC7}"/>
                </a:ext>
              </a:extLst>
            </p:cNvPr>
            <p:cNvCxnSpPr>
              <a:cxnSpLocks/>
            </p:cNvCxnSpPr>
            <p:nvPr/>
          </p:nvCxnSpPr>
          <p:spPr>
            <a:xfrm>
              <a:off x="-476995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eur droit avec flèche 131">
              <a:extLst>
                <a:ext uri="{FF2B5EF4-FFF2-40B4-BE49-F238E27FC236}">
                  <a16:creationId xmlns:a16="http://schemas.microsoft.com/office/drawing/2014/main" id="{3DFB5A09-9DAF-75EA-386A-40010BA8E3D8}"/>
                </a:ext>
              </a:extLst>
            </p:cNvPr>
            <p:cNvCxnSpPr>
              <a:cxnSpLocks/>
            </p:cNvCxnSpPr>
            <p:nvPr/>
          </p:nvCxnSpPr>
          <p:spPr>
            <a:xfrm>
              <a:off x="-929640" y="2584087"/>
              <a:ext cx="167042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eur droit avec flèche 132">
              <a:extLst>
                <a:ext uri="{FF2B5EF4-FFF2-40B4-BE49-F238E27FC236}">
                  <a16:creationId xmlns:a16="http://schemas.microsoft.com/office/drawing/2014/main" id="{07D9A243-DD66-6917-C71B-57D3BA8045F8}"/>
                </a:ext>
              </a:extLst>
            </p:cNvPr>
            <p:cNvCxnSpPr>
              <a:cxnSpLocks/>
            </p:cNvCxnSpPr>
            <p:nvPr/>
          </p:nvCxnSpPr>
          <p:spPr>
            <a:xfrm>
              <a:off x="3566321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eur droit avec flèche 133">
              <a:extLst>
                <a:ext uri="{FF2B5EF4-FFF2-40B4-BE49-F238E27FC236}">
                  <a16:creationId xmlns:a16="http://schemas.microsoft.com/office/drawing/2014/main" id="{9671BD30-BE90-043B-D3AC-A3D996C680C9}"/>
                </a:ext>
              </a:extLst>
            </p:cNvPr>
            <p:cNvCxnSpPr>
              <a:cxnSpLocks/>
            </p:cNvCxnSpPr>
            <p:nvPr/>
          </p:nvCxnSpPr>
          <p:spPr>
            <a:xfrm>
              <a:off x="750721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eur droit avec flèche 134">
              <a:extLst>
                <a:ext uri="{FF2B5EF4-FFF2-40B4-BE49-F238E27FC236}">
                  <a16:creationId xmlns:a16="http://schemas.microsoft.com/office/drawing/2014/main" id="{4AD242C4-2782-2A4B-CD83-434725AD8456}"/>
                </a:ext>
              </a:extLst>
            </p:cNvPr>
            <p:cNvCxnSpPr>
              <a:cxnSpLocks/>
            </p:cNvCxnSpPr>
            <p:nvPr/>
          </p:nvCxnSpPr>
          <p:spPr>
            <a:xfrm>
              <a:off x="11440807" y="2516414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avec flèche 135">
              <a:extLst>
                <a:ext uri="{FF2B5EF4-FFF2-40B4-BE49-F238E27FC236}">
                  <a16:creationId xmlns:a16="http://schemas.microsoft.com/office/drawing/2014/main" id="{7E349F26-AA4D-E621-328F-FF22340A0BF1}"/>
                </a:ext>
              </a:extLst>
            </p:cNvPr>
            <p:cNvCxnSpPr>
              <a:cxnSpLocks/>
            </p:cNvCxnSpPr>
            <p:nvPr/>
          </p:nvCxnSpPr>
          <p:spPr>
            <a:xfrm>
              <a:off x="15442794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800EE38D-441D-89E2-1891-09F946AB6E7A}"/>
              </a:ext>
            </a:extLst>
          </p:cNvPr>
          <p:cNvGrpSpPr/>
          <p:nvPr/>
        </p:nvGrpSpPr>
        <p:grpSpPr>
          <a:xfrm>
            <a:off x="-11865210" y="3324251"/>
            <a:ext cx="31671950" cy="3256729"/>
            <a:chOff x="397469" y="3324251"/>
            <a:chExt cx="31671950" cy="325672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C0042683-1F65-CA42-A095-EF464C3F341B}"/>
                </a:ext>
              </a:extLst>
            </p:cNvPr>
            <p:cNvGrpSpPr/>
            <p:nvPr/>
          </p:nvGrpSpPr>
          <p:grpSpPr>
            <a:xfrm>
              <a:off x="397469" y="3351496"/>
              <a:ext cx="4101402" cy="1609109"/>
              <a:chOff x="1661160" y="3886200"/>
              <a:chExt cx="5859921" cy="1877204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7012AA3-BAF5-F365-F433-D4F28E0A1D12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 /profile HTTP/1.1</a:t>
                </a:r>
              </a:p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Host: bonjour.com</a:t>
                </a:r>
              </a:p>
            </p:txBody>
          </p:sp>
          <p:cxnSp>
            <p:nvCxnSpPr>
              <p:cNvPr id="62" name="Connecteur droit 61">
                <a:extLst>
                  <a:ext uri="{FF2B5EF4-FFF2-40B4-BE49-F238E27FC236}">
                    <a16:creationId xmlns:a16="http://schemas.microsoft.com/office/drawing/2014/main" id="{8E888D52-6245-3200-F40F-D75C6607C0E4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EBDE5ECF-4271-9AC3-DFB7-10B11B3AA0FC}"/>
                </a:ext>
              </a:extLst>
            </p:cNvPr>
            <p:cNvGrpSpPr/>
            <p:nvPr/>
          </p:nvGrpSpPr>
          <p:grpSpPr>
            <a:xfrm>
              <a:off x="3922821" y="4825454"/>
              <a:ext cx="4011963" cy="1609109"/>
              <a:chOff x="1661160" y="3886200"/>
              <a:chExt cx="5859921" cy="187720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80D765C-67CA-44C1-2B03-DBFE76235914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environ = {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"REQUEST_METHOD": "GET",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"PATH_INFO": "/profile",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"HTTP_HOST": "bonjour.com",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...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D9902E7F-3D7D-A136-669F-6FCED6A18719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8558D06D-B68C-D514-DD84-4D4DA8935BCC}"/>
                </a:ext>
              </a:extLst>
            </p:cNvPr>
            <p:cNvGrpSpPr/>
            <p:nvPr/>
          </p:nvGrpSpPr>
          <p:grpSpPr>
            <a:xfrm>
              <a:off x="7988196" y="3324251"/>
              <a:ext cx="4011963" cy="1609109"/>
              <a:chOff x="1661160" y="3886200"/>
              <a:chExt cx="5859921" cy="187720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ED4290E-08A8-7D71-8A39-22AD886F2951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(environ)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request.method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# "GET"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request.path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# "/profile"</a:t>
                </a:r>
              </a:p>
            </p:txBody>
          </p: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C6356E17-D3A8-5FF8-7C71-F6603F64E4BF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Connecteur : en arc 7">
              <a:extLst>
                <a:ext uri="{FF2B5EF4-FFF2-40B4-BE49-F238E27FC236}">
                  <a16:creationId xmlns:a16="http://schemas.microsoft.com/office/drawing/2014/main" id="{469D541A-9582-7C53-1284-320A0D3A9C2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80886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 : en arc 8">
              <a:extLst>
                <a:ext uri="{FF2B5EF4-FFF2-40B4-BE49-F238E27FC236}">
                  <a16:creationId xmlns:a16="http://schemas.microsoft.com/office/drawing/2014/main" id="{05D789A1-6D99-7D3F-D7BA-921B8BB96C8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647951" y="3484745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 : en arc 9">
              <a:extLst>
                <a:ext uri="{FF2B5EF4-FFF2-40B4-BE49-F238E27FC236}">
                  <a16:creationId xmlns:a16="http://schemas.microsoft.com/office/drawing/2014/main" id="{3BEDE574-66FD-4D21-15D3-0ACD6744611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1211100" y="5087506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0E80EFE8-1B6A-C6C2-F7FB-731636E38083}"/>
                </a:ext>
              </a:extLst>
            </p:cNvPr>
            <p:cNvGrpSpPr/>
            <p:nvPr/>
          </p:nvGrpSpPr>
          <p:grpSpPr>
            <a:xfrm>
              <a:off x="12325055" y="4933358"/>
              <a:ext cx="3875064" cy="1412589"/>
              <a:chOff x="1661160" y="3485014"/>
              <a:chExt cx="5859921" cy="187720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CA2971E-EEB3-C59B-0141-41DB060F3F14}"/>
                  </a:ext>
                </a:extLst>
              </p:cNvPr>
              <p:cNvSpPr/>
              <p:nvPr/>
            </p:nvSpPr>
            <p:spPr>
              <a:xfrm>
                <a:off x="1661160" y="3485017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@app.route("/profile")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def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profile():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render_template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"profile.html",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4732AC8D-2208-AB15-974A-51310E42BF97}"/>
                  </a:ext>
                </a:extLst>
              </p:cNvPr>
              <p:cNvCxnSpPr/>
              <p:nvPr/>
            </p:nvCxnSpPr>
            <p:spPr>
              <a:xfrm>
                <a:off x="1661160" y="3485014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CFB08C25-5F29-3C9C-2FFE-72E314E15BCF}"/>
                </a:ext>
              </a:extLst>
            </p:cNvPr>
            <p:cNvGrpSpPr/>
            <p:nvPr/>
          </p:nvGrpSpPr>
          <p:grpSpPr>
            <a:xfrm>
              <a:off x="16324476" y="3324251"/>
              <a:ext cx="3875064" cy="1412587"/>
              <a:chOff x="1661160" y="3886200"/>
              <a:chExt cx="5859921" cy="187720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CBE5253-EB64-6E14-1267-538EA76A411A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{{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}}&lt;/h1&gt;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&gt;&gt;&gt; 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</a:t>
                </a:r>
              </a:p>
            </p:txBody>
          </p:sp>
          <p:cxnSp>
            <p:nvCxnSpPr>
              <p:cNvPr id="49" name="Connecteur droit 48">
                <a:extLst>
                  <a:ext uri="{FF2B5EF4-FFF2-40B4-BE49-F238E27FC236}">
                    <a16:creationId xmlns:a16="http://schemas.microsoft.com/office/drawing/2014/main" id="{D8420D49-B63F-0EBF-7203-BC94C584D50B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Connecteur : en arc 12">
              <a:extLst>
                <a:ext uri="{FF2B5EF4-FFF2-40B4-BE49-F238E27FC236}">
                  <a16:creationId xmlns:a16="http://schemas.microsoft.com/office/drawing/2014/main" id="{D0C89285-9C36-4738-5E28-81C1708967A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4717696" y="3490826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 : en arc 13">
              <a:extLst>
                <a:ext uri="{FF2B5EF4-FFF2-40B4-BE49-F238E27FC236}">
                  <a16:creationId xmlns:a16="http://schemas.microsoft.com/office/drawing/2014/main" id="{54CFD693-A03C-68D5-1FD2-B92956D9796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35050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C25A8971-B742-F9FB-4E9F-318F0FB0F38E}"/>
                </a:ext>
              </a:extLst>
            </p:cNvPr>
            <p:cNvGrpSpPr/>
            <p:nvPr/>
          </p:nvGrpSpPr>
          <p:grpSpPr>
            <a:xfrm>
              <a:off x="20323898" y="4825454"/>
              <a:ext cx="3875064" cy="1755526"/>
              <a:chOff x="1661160" y="3886200"/>
              <a:chExt cx="5859921" cy="1877204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E39A5FE-1A6C-A539-82AF-1B848418063D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Response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status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=200,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headers={"Content-Type": 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text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/html"}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EE55F766-EF30-20D9-30C0-A98FB6D4EF3C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necteur : en arc 15">
              <a:extLst>
                <a:ext uri="{FF2B5EF4-FFF2-40B4-BE49-F238E27FC236}">
                  <a16:creationId xmlns:a16="http://schemas.microsoft.com/office/drawing/2014/main" id="{C9A8974D-7A00-FC33-47E7-7A1E69A42E1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860955" y="3289223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6166B36F-84E2-699E-91D2-5E6B4CECDAB4}"/>
                </a:ext>
              </a:extLst>
            </p:cNvPr>
            <p:cNvGrpSpPr/>
            <p:nvPr/>
          </p:nvGrpSpPr>
          <p:grpSpPr>
            <a:xfrm>
              <a:off x="24523857" y="3440178"/>
              <a:ext cx="3618290" cy="1412587"/>
              <a:chOff x="1661160" y="3886200"/>
              <a:chExt cx="5859921" cy="187720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D7037AC-82D3-D83A-63CE-860B416A8726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[b"&lt;h1&gt;Bonjour Ricco&lt;/h1&gt;"]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F2D04F33-09EC-FB86-9CF9-9B19A3BAC7F8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Connecteur : en arc 30">
              <a:extLst>
                <a:ext uri="{FF2B5EF4-FFF2-40B4-BE49-F238E27FC236}">
                  <a16:creationId xmlns:a16="http://schemas.microsoft.com/office/drawing/2014/main" id="{18FDC210-4421-E378-B67F-9BD146FD345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309893" y="5087507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82C1B51B-8D9E-0EE6-190D-D6E91E6CE299}"/>
                </a:ext>
              </a:extLst>
            </p:cNvPr>
            <p:cNvGrpSpPr/>
            <p:nvPr/>
          </p:nvGrpSpPr>
          <p:grpSpPr>
            <a:xfrm>
              <a:off x="28451129" y="4996923"/>
              <a:ext cx="3618290" cy="1412587"/>
              <a:chOff x="1661160" y="3886200"/>
              <a:chExt cx="5859921" cy="187720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D098CE7-26A2-82F0-A9A7-276DFC9090DD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HTTP/1.1 200 OK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Content-Type: text/html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Content-Length: 24</a:t>
                </a:r>
              </a:p>
              <a:p>
                <a:endParaRPr lang="pt-B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Ricco&lt;/h1&gt;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78080A36-68F3-21A7-8BC3-D7C822F25BD0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6" name="Image 65">
            <a:extLst>
              <a:ext uri="{FF2B5EF4-FFF2-40B4-BE49-F238E27FC236}">
                <a16:creationId xmlns:a16="http://schemas.microsoft.com/office/drawing/2014/main" id="{FD3BE2E1-8D55-C2F2-C593-2F81B99E8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554" y="3162429"/>
            <a:ext cx="4186170" cy="1610065"/>
          </a:xfrm>
          <a:prstGeom prst="rect">
            <a:avLst/>
          </a:prstGeom>
          <a:ln w="22225">
            <a:solidFill>
              <a:srgbClr val="334051"/>
            </a:solidFill>
          </a:ln>
        </p:spPr>
      </p:pic>
      <p:cxnSp>
        <p:nvCxnSpPr>
          <p:cNvPr id="67" name="Connecteur : en arc 66">
            <a:extLst>
              <a:ext uri="{FF2B5EF4-FFF2-40B4-BE49-F238E27FC236}">
                <a16:creationId xmlns:a16="http://schemas.microsoft.com/office/drawing/2014/main" id="{495B4981-35DB-CB43-35D3-43512A86A8A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417773" y="3613978"/>
            <a:ext cx="633640" cy="1543860"/>
          </a:xfrm>
          <a:prstGeom prst="curvedConnector2">
            <a:avLst/>
          </a:prstGeom>
          <a:ln w="730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3710D4B-671B-2385-C48C-2AF21237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F81B-BFD9-6053-1D14-5BFE0AA0E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B9D8B07-6AFA-8938-C379-633D4EBDA49A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F652CF2-E4BC-D411-5DF4-270C8865725D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730E221-78A0-10BA-2001-3D173C789A09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Exemple d’une requête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912401-66DA-3882-45D3-D1F5828BB579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1EE4284-696E-7168-639A-F260111FC1D4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3F156EB0-47A7-A3E7-9CBE-D933070FC669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D46E105-1729-A9B6-DB52-D88E7E3BBEDD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030A5D63-7F14-16D3-EC30-BC6BECEC6709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9A3106E1-5AD2-DC4D-81B7-BAF7BD08655E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97C1421-A16B-6493-D425-C1F048295105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50AA11D-5AC1-28D3-AF27-B12CB3999B7D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AE87E61C-83AF-C409-ED4A-CE45A817E80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DFB4F5C1-24AA-90FD-3D3C-D81B08BE7B2E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B41B4566-8003-C35E-7BD4-BE43626CF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516" y="3162429"/>
            <a:ext cx="4186170" cy="1610065"/>
          </a:xfrm>
          <a:prstGeom prst="rect">
            <a:avLst/>
          </a:prstGeom>
          <a:ln w="22225">
            <a:solidFill>
              <a:srgbClr val="334051"/>
            </a:solidFill>
          </a:ln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8347B3A6-8E5B-D81F-B819-E844D51ABCC1}"/>
              </a:ext>
            </a:extLst>
          </p:cNvPr>
          <p:cNvGrpSpPr/>
          <p:nvPr/>
        </p:nvGrpSpPr>
        <p:grpSpPr>
          <a:xfrm>
            <a:off x="-24105130" y="2018326"/>
            <a:ext cx="31536077" cy="1112128"/>
            <a:chOff x="-11865210" y="2018326"/>
            <a:chExt cx="31536077" cy="1112128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FDDB63A5-6B19-9262-4795-065933521195}"/>
                </a:ext>
              </a:extLst>
            </p:cNvPr>
            <p:cNvSpPr/>
            <p:nvPr/>
          </p:nvSpPr>
          <p:spPr>
            <a:xfrm>
              <a:off x="-7865789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C719C8F-8BA9-E504-B959-940D0705A13D}"/>
                </a:ext>
              </a:extLst>
            </p:cNvPr>
            <p:cNvSpPr/>
            <p:nvPr/>
          </p:nvSpPr>
          <p:spPr>
            <a:xfrm>
              <a:off x="-1186521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Navigateur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DE1E1053-B08D-BC37-3052-73C4D18E09EB}"/>
                </a:ext>
              </a:extLst>
            </p:cNvPr>
            <p:cNvSpPr/>
            <p:nvPr/>
          </p:nvSpPr>
          <p:spPr>
            <a:xfrm>
              <a:off x="-3866367" y="2035112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4818BF3-2660-E917-CB0C-26497FC79905}"/>
                </a:ext>
              </a:extLst>
            </p:cNvPr>
            <p:cNvSpPr/>
            <p:nvPr/>
          </p:nvSpPr>
          <p:spPr>
            <a:xfrm>
              <a:off x="467994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Flask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99544BBA-5991-A295-94CE-7340904FABC6}"/>
                </a:ext>
              </a:extLst>
            </p:cNvPr>
            <p:cNvSpPr/>
            <p:nvPr/>
          </p:nvSpPr>
          <p:spPr>
            <a:xfrm>
              <a:off x="4467416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Jinja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087D55B-AC1C-5EF3-C146-DEA3F88DFC64}"/>
                </a:ext>
              </a:extLst>
            </p:cNvPr>
            <p:cNvSpPr/>
            <p:nvPr/>
          </p:nvSpPr>
          <p:spPr>
            <a:xfrm>
              <a:off x="8466838" y="2018326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Werkzeug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1359E445-E85B-A145-B93A-CB2563C9DDF6}"/>
                </a:ext>
              </a:extLst>
            </p:cNvPr>
            <p:cNvSpPr/>
            <p:nvPr/>
          </p:nvSpPr>
          <p:spPr>
            <a:xfrm>
              <a:off x="12466260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WSGI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A99A6C75-E472-71EA-7EE5-9C15757D39F6}"/>
                </a:ext>
              </a:extLst>
            </p:cNvPr>
            <p:cNvSpPr/>
            <p:nvPr/>
          </p:nvSpPr>
          <p:spPr>
            <a:xfrm>
              <a:off x="16465682" y="2025025"/>
              <a:ext cx="3205185" cy="1095342"/>
            </a:xfrm>
            <a:prstGeom prst="roundRect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Réponse HTML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1B159A0A-4A45-56EC-C9E6-287E86408706}"/>
                </a:ext>
              </a:extLst>
            </p:cNvPr>
            <p:cNvCxnSpPr>
              <a:cxnSpLocks/>
            </p:cNvCxnSpPr>
            <p:nvPr/>
          </p:nvCxnSpPr>
          <p:spPr>
            <a:xfrm>
              <a:off x="-882543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BB77167E-AAB6-BB11-AAD3-88FEC66C0C59}"/>
                </a:ext>
              </a:extLst>
            </p:cNvPr>
            <p:cNvCxnSpPr>
              <a:cxnSpLocks/>
            </p:cNvCxnSpPr>
            <p:nvPr/>
          </p:nvCxnSpPr>
          <p:spPr>
            <a:xfrm>
              <a:off x="-476995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14231B08-2D5B-5929-908D-95DC313EE2AD}"/>
                </a:ext>
              </a:extLst>
            </p:cNvPr>
            <p:cNvCxnSpPr>
              <a:cxnSpLocks/>
            </p:cNvCxnSpPr>
            <p:nvPr/>
          </p:nvCxnSpPr>
          <p:spPr>
            <a:xfrm>
              <a:off x="-929640" y="2584087"/>
              <a:ext cx="167042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EDFE3CD2-C3BD-952B-CEE6-8CAA65B38ECE}"/>
                </a:ext>
              </a:extLst>
            </p:cNvPr>
            <p:cNvCxnSpPr>
              <a:cxnSpLocks/>
            </p:cNvCxnSpPr>
            <p:nvPr/>
          </p:nvCxnSpPr>
          <p:spPr>
            <a:xfrm>
              <a:off x="3566321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3D834AE5-6637-F135-D540-981E15CFA9E2}"/>
                </a:ext>
              </a:extLst>
            </p:cNvPr>
            <p:cNvCxnSpPr>
              <a:cxnSpLocks/>
            </p:cNvCxnSpPr>
            <p:nvPr/>
          </p:nvCxnSpPr>
          <p:spPr>
            <a:xfrm>
              <a:off x="7507219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8360F0D8-F271-83CF-E4CA-BD0ABC3FD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440807" y="2516414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F9EA4094-690F-9462-E485-613B786728E9}"/>
                </a:ext>
              </a:extLst>
            </p:cNvPr>
            <p:cNvCxnSpPr>
              <a:cxnSpLocks/>
            </p:cNvCxnSpPr>
            <p:nvPr/>
          </p:nvCxnSpPr>
          <p:spPr>
            <a:xfrm>
              <a:off x="15442794" y="2584087"/>
              <a:ext cx="1132310" cy="0"/>
            </a:xfrm>
            <a:prstGeom prst="straightConnector1">
              <a:avLst/>
            </a:prstGeom>
            <a:ln w="127000">
              <a:solidFill>
                <a:srgbClr val="C2443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1056DD5-89E4-CBE1-E0A0-BE9CAC0CC5DA}"/>
              </a:ext>
            </a:extLst>
          </p:cNvPr>
          <p:cNvGrpSpPr/>
          <p:nvPr/>
        </p:nvGrpSpPr>
        <p:grpSpPr>
          <a:xfrm>
            <a:off x="-23943419" y="3324251"/>
            <a:ext cx="31671950" cy="3323585"/>
            <a:chOff x="397469" y="3324251"/>
            <a:chExt cx="31671950" cy="3323585"/>
          </a:xfrm>
        </p:grpSpPr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44BFAEC3-29E0-D66E-E015-A7E4ED78E8CE}"/>
                </a:ext>
              </a:extLst>
            </p:cNvPr>
            <p:cNvGrpSpPr/>
            <p:nvPr/>
          </p:nvGrpSpPr>
          <p:grpSpPr>
            <a:xfrm>
              <a:off x="397469" y="3351496"/>
              <a:ext cx="4101402" cy="1609109"/>
              <a:chOff x="1661160" y="3886200"/>
              <a:chExt cx="5859921" cy="1877204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4E26293-5C8B-D104-030D-C5EA14ACF1D6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 /profile HTTP/1.1</a:t>
                </a:r>
              </a:p>
              <a:p>
                <a:r>
                  <a:rPr lang="en-US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Host: bonjour.com</a:t>
                </a:r>
              </a:p>
            </p:txBody>
          </p:sp>
          <p:cxnSp>
            <p:nvCxnSpPr>
              <p:cNvPr id="82" name="Connecteur droit 81">
                <a:extLst>
                  <a:ext uri="{FF2B5EF4-FFF2-40B4-BE49-F238E27FC236}">
                    <a16:creationId xmlns:a16="http://schemas.microsoft.com/office/drawing/2014/main" id="{173F463B-F52A-32F0-58CA-F31140ECECF2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7311724E-6357-CE79-72D2-19530E0B706C}"/>
                </a:ext>
              </a:extLst>
            </p:cNvPr>
            <p:cNvGrpSpPr/>
            <p:nvPr/>
          </p:nvGrpSpPr>
          <p:grpSpPr>
            <a:xfrm>
              <a:off x="3922821" y="4825454"/>
              <a:ext cx="4011963" cy="1609109"/>
              <a:chOff x="1661160" y="3886200"/>
              <a:chExt cx="5859921" cy="1877204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0DC4152-C63E-C015-AF9F-28E24A6652DD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environ = {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"REQUEST_METHOD": "GET",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"PATH_INFO": "/profile",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"HTTP_HOST": "bonjour.com",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...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  <p:cxnSp>
            <p:nvCxnSpPr>
              <p:cNvPr id="80" name="Connecteur droit 79">
                <a:extLst>
                  <a:ext uri="{FF2B5EF4-FFF2-40B4-BE49-F238E27FC236}">
                    <a16:creationId xmlns:a16="http://schemas.microsoft.com/office/drawing/2014/main" id="{B7295385-1270-3473-64B6-D315CDD59CA9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5F6FB600-9DEB-F608-E91C-7E9B606FA570}"/>
                </a:ext>
              </a:extLst>
            </p:cNvPr>
            <p:cNvGrpSpPr/>
            <p:nvPr/>
          </p:nvGrpSpPr>
          <p:grpSpPr>
            <a:xfrm>
              <a:off x="7988196" y="3324251"/>
              <a:ext cx="4011963" cy="1609109"/>
              <a:chOff x="1661160" y="3886200"/>
              <a:chExt cx="5859921" cy="1877204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2BFF26D-815D-BD8F-4906-CFF642FBD523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(environ)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request.method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# "GET"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request.path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# "/profile"</a:t>
                </a:r>
              </a:p>
            </p:txBody>
          </p:sp>
          <p:cxnSp>
            <p:nvCxnSpPr>
              <p:cNvPr id="78" name="Connecteur droit 77">
                <a:extLst>
                  <a:ext uri="{FF2B5EF4-FFF2-40B4-BE49-F238E27FC236}">
                    <a16:creationId xmlns:a16="http://schemas.microsoft.com/office/drawing/2014/main" id="{61EAAE05-D36C-A1E9-AA3D-5D0E697BA740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Connecteur : en arc 42">
              <a:extLst>
                <a:ext uri="{FF2B5EF4-FFF2-40B4-BE49-F238E27FC236}">
                  <a16:creationId xmlns:a16="http://schemas.microsoft.com/office/drawing/2014/main" id="{4B51F91D-D46F-E4B7-DB96-8720C3EB1C7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80886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 : en arc 43">
              <a:extLst>
                <a:ext uri="{FF2B5EF4-FFF2-40B4-BE49-F238E27FC236}">
                  <a16:creationId xmlns:a16="http://schemas.microsoft.com/office/drawing/2014/main" id="{10CA3D5B-28A5-FC6A-D09A-6A25E73E97C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647951" y="3484745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 : en arc 44">
              <a:extLst>
                <a:ext uri="{FF2B5EF4-FFF2-40B4-BE49-F238E27FC236}">
                  <a16:creationId xmlns:a16="http://schemas.microsoft.com/office/drawing/2014/main" id="{A3E6F3E6-027E-B766-1215-CF186458756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1211100" y="5087506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4EEB170F-3DBB-471D-DD9F-4CCB783D6B13}"/>
                </a:ext>
              </a:extLst>
            </p:cNvPr>
            <p:cNvGrpSpPr/>
            <p:nvPr/>
          </p:nvGrpSpPr>
          <p:grpSpPr>
            <a:xfrm>
              <a:off x="12325055" y="5235249"/>
              <a:ext cx="3875064" cy="1412587"/>
              <a:chOff x="1661160" y="3886200"/>
              <a:chExt cx="5859921" cy="187720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EC2DE70-7034-65E0-671D-7A10E969CA2D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@app.route("/profile")</a:t>
                </a:r>
              </a:p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def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profile():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render_template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"profile.html",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9175CDC0-B726-3821-56C0-8AB738B7246A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8804C710-DC7B-FDB2-1B30-FC95AF682129}"/>
                </a:ext>
              </a:extLst>
            </p:cNvPr>
            <p:cNvGrpSpPr/>
            <p:nvPr/>
          </p:nvGrpSpPr>
          <p:grpSpPr>
            <a:xfrm>
              <a:off x="16324476" y="3324251"/>
              <a:ext cx="3875064" cy="1412587"/>
              <a:chOff x="1661160" y="3886200"/>
              <a:chExt cx="5859921" cy="1877204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6EBDD03-CA95-A3F9-DA7E-EB33537EE104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{{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}}&lt;/h1&gt;</a:t>
                </a:r>
              </a:p>
              <a:p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&gt;&gt;&gt; 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</a:t>
                </a:r>
              </a:p>
            </p:txBody>
          </p:sp>
          <p:cxnSp>
            <p:nvCxnSpPr>
              <p:cNvPr id="74" name="Connecteur droit 73">
                <a:extLst>
                  <a:ext uri="{FF2B5EF4-FFF2-40B4-BE49-F238E27FC236}">
                    <a16:creationId xmlns:a16="http://schemas.microsoft.com/office/drawing/2014/main" id="{029C81F5-6F23-EB41-D1B6-2DA137AAB613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Connecteur : en arc 53">
              <a:extLst>
                <a:ext uri="{FF2B5EF4-FFF2-40B4-BE49-F238E27FC236}">
                  <a16:creationId xmlns:a16="http://schemas.microsoft.com/office/drawing/2014/main" id="{DA4300D4-C8F5-3D02-7DBF-633F6E775F0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4717696" y="3490826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 : en arc 54">
              <a:extLst>
                <a:ext uri="{FF2B5EF4-FFF2-40B4-BE49-F238E27FC236}">
                  <a16:creationId xmlns:a16="http://schemas.microsoft.com/office/drawing/2014/main" id="{AD563605-3D5E-D1E2-796F-C9F5159EF84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350507" y="5042432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26493112-2BB4-1FAF-C758-E0259FCC5FD0}"/>
                </a:ext>
              </a:extLst>
            </p:cNvPr>
            <p:cNvGrpSpPr/>
            <p:nvPr/>
          </p:nvGrpSpPr>
          <p:grpSpPr>
            <a:xfrm>
              <a:off x="20323898" y="4825454"/>
              <a:ext cx="3875064" cy="1755526"/>
              <a:chOff x="1661160" y="3886200"/>
              <a:chExt cx="5859921" cy="1877204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07E4E42-05B2-34AA-662B-EB30661AC3C1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Response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"&lt;h1&gt;Bonjour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Ricco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&lt;/h1&gt;",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status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=200,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headers={"Content-Type": "</a:t>
                </a:r>
                <a:r>
                  <a:rPr lang="fr-FR" sz="1600" b="1" dirty="0" err="1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text</a:t>
                </a:r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/html"}</a:t>
                </a:r>
              </a:p>
              <a:p>
                <a:r>
                  <a:rPr lang="fr-F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72" name="Connecteur droit 71">
                <a:extLst>
                  <a:ext uri="{FF2B5EF4-FFF2-40B4-BE49-F238E27FC236}">
                    <a16:creationId xmlns:a16="http://schemas.microsoft.com/office/drawing/2014/main" id="{880E57C5-19E3-298B-BD6A-0A074D440DE3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Connecteur : en arc 58">
              <a:extLst>
                <a:ext uri="{FF2B5EF4-FFF2-40B4-BE49-F238E27FC236}">
                  <a16:creationId xmlns:a16="http://schemas.microsoft.com/office/drawing/2014/main" id="{7F6817D2-1648-C23E-40E0-D6C0C1D57C2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860955" y="3289223"/>
              <a:ext cx="633640" cy="1543860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A9E006C7-6BC6-5A23-EE0F-696E10A8031E}"/>
                </a:ext>
              </a:extLst>
            </p:cNvPr>
            <p:cNvGrpSpPr/>
            <p:nvPr/>
          </p:nvGrpSpPr>
          <p:grpSpPr>
            <a:xfrm>
              <a:off x="24523857" y="3440178"/>
              <a:ext cx="3618290" cy="1412587"/>
              <a:chOff x="1661160" y="3886200"/>
              <a:chExt cx="5859921" cy="1877204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E52A900-DB8A-DF16-822C-373DAFCC7373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[b"&lt;h1&gt;Bonjour Ricco&lt;/h1&gt;"]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F4444CB4-45B5-C6F4-36B5-08C3CACDA5D0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Connecteur : en arc 60">
              <a:extLst>
                <a:ext uri="{FF2B5EF4-FFF2-40B4-BE49-F238E27FC236}">
                  <a16:creationId xmlns:a16="http://schemas.microsoft.com/office/drawing/2014/main" id="{A92A69A8-7363-E6BB-5BD9-D6BF268B620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309893" y="5087507"/>
              <a:ext cx="639437" cy="1025072"/>
            </a:xfrm>
            <a:prstGeom prst="curvedConnector2">
              <a:avLst/>
            </a:prstGeom>
            <a:ln w="730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78996F77-9987-358B-08A4-308605290F7F}"/>
                </a:ext>
              </a:extLst>
            </p:cNvPr>
            <p:cNvGrpSpPr/>
            <p:nvPr/>
          </p:nvGrpSpPr>
          <p:grpSpPr>
            <a:xfrm>
              <a:off x="28451129" y="4996923"/>
              <a:ext cx="3618290" cy="1412587"/>
              <a:chOff x="1661160" y="3886200"/>
              <a:chExt cx="5859921" cy="1877204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B889CC2-0B38-F058-E613-21006788C428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HTTP/1.1 200 OK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Content-Type: text/html</a:t>
                </a: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Content-Length: 24</a:t>
                </a:r>
              </a:p>
              <a:p>
                <a:endParaRPr lang="pt-B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pt-BR" sz="1600" b="1" dirty="0">
                    <a:solidFill>
                      <a:srgbClr val="33405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&lt;h1&gt;Bonjour Ricco&lt;/h1&gt;</a:t>
                </a:r>
                <a:endParaRPr lang="fr-FR" sz="16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CCD1DBA9-3094-747B-0588-0ECC3D5CBB9C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ln w="571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3" name="Connecteur : en arc 82">
            <a:extLst>
              <a:ext uri="{FF2B5EF4-FFF2-40B4-BE49-F238E27FC236}">
                <a16:creationId xmlns:a16="http://schemas.microsoft.com/office/drawing/2014/main" id="{D76A71F5-EA4A-C4AE-FE9F-0DD0FA80168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34735" y="3613978"/>
            <a:ext cx="633640" cy="1543860"/>
          </a:xfrm>
          <a:prstGeom prst="curvedConnector2">
            <a:avLst/>
          </a:prstGeom>
          <a:ln w="730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A18F419-1C2F-9262-755B-E68F3650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44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81DC-954E-3A6F-A13E-91EA62EC4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7C05613-AD56-F049-3D0F-BF9B64E6EF84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D1C360F-5BB5-E9DF-2FB5-26E2089CF339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6305AB-E679-4F35-869B-CB49862C75DA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Initialiser une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A8DE30-83BC-BB72-08AC-1897F1D1C6BA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4D4993FD-0098-5E4B-811B-DA462821FB98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712BFA57-F715-8612-FFA7-FC6BF1B815D5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654F083-832F-4BF2-81EC-DDCC57C131B7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BC51C96B-A058-8DBB-F6C1-F0F77EC86E79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5FCEEBF-78A1-7761-6E6D-522280236695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92577B90-90C3-467D-99DD-7AD56C4AF5F1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D7087AD-52B0-B86F-5759-49216894985E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52CA9F1A-845F-82B4-5D2C-6BD2904C0B0E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D9ADE7D-1064-5E51-C37A-A27494A52CD6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A3EE2F4-7923-6AF6-F763-6AF4FFDA6653}"/>
              </a:ext>
            </a:extLst>
          </p:cNvPr>
          <p:cNvGrpSpPr/>
          <p:nvPr/>
        </p:nvGrpSpPr>
        <p:grpSpPr>
          <a:xfrm>
            <a:off x="6632725" y="3042396"/>
            <a:ext cx="2633192" cy="3238651"/>
            <a:chOff x="1661160" y="3886200"/>
            <a:chExt cx="5859921" cy="187720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BBB5D3-7E2E-6F1E-0183-E212E9CDB5CD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flask import Flask</a:t>
              </a:r>
            </a:p>
            <a:p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 = Flask(__name__)</a:t>
              </a:r>
            </a:p>
            <a:p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@app.route("/")</a:t>
              </a: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 home():</a:t>
              </a: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return "Hello World"</a:t>
              </a:r>
            </a:p>
            <a:p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 __name__ == "__main__":</a:t>
              </a: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app.run</a:t>
              </a:r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B6D957F6-301B-A966-BBAC-C61A66466711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482F50A0-84DF-A927-BE1B-E992EBC05FB0}"/>
              </a:ext>
            </a:extLst>
          </p:cNvPr>
          <p:cNvGrpSpPr/>
          <p:nvPr/>
        </p:nvGrpSpPr>
        <p:grpSpPr>
          <a:xfrm>
            <a:off x="744438" y="2685400"/>
            <a:ext cx="4936377" cy="3740789"/>
            <a:chOff x="1661160" y="3886200"/>
            <a:chExt cx="5859921" cy="187720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562D8A-AD49-01CF-7AF2-348AF940FC86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app(environ,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start_response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path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environ.get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("PATH_INFO", "/")</a:t>
              </a:r>
            </a:p>
            <a:p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if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path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== "/":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response_body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b"Hello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World"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status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"200 OK"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else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response_body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b"Not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Found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status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"404 Not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Found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</a:p>
            <a:p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headers = [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("Content-Type", "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text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/plain"),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("Content-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Length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",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len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response_body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)))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]</a:t>
              </a:r>
            </a:p>
            <a:p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start_response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status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headers)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return [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response_body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82A045C5-AE83-7A4F-DDD1-5951571C25E9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1E1D2A3-A16E-04D4-C975-6D605702FFC0}"/>
              </a:ext>
            </a:extLst>
          </p:cNvPr>
          <p:cNvCxnSpPr>
            <a:cxnSpLocks/>
          </p:cNvCxnSpPr>
          <p:nvPr/>
        </p:nvCxnSpPr>
        <p:spPr>
          <a:xfrm>
            <a:off x="6112747" y="1899139"/>
            <a:ext cx="0" cy="460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488C3C7-3DE6-886B-2BC1-563D8797AFDF}"/>
              </a:ext>
            </a:extLst>
          </p:cNvPr>
          <p:cNvSpPr txBox="1"/>
          <p:nvPr/>
        </p:nvSpPr>
        <p:spPr>
          <a:xfrm>
            <a:off x="6500917" y="1894019"/>
            <a:ext cx="4936376" cy="107721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Avec Flask</a:t>
            </a:r>
          </a:p>
          <a:p>
            <a:r>
              <a:rPr lang="fr-FR" sz="2000" dirty="0"/>
              <a:t>(en utilisant le serveur WSGI intégré pour le développement)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FDFFAFD-5755-6530-C74B-365002517728}"/>
              </a:ext>
            </a:extLst>
          </p:cNvPr>
          <p:cNvSpPr txBox="1"/>
          <p:nvPr/>
        </p:nvSpPr>
        <p:spPr>
          <a:xfrm>
            <a:off x="893180" y="1872288"/>
            <a:ext cx="4936376" cy="76944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Sans Flask </a:t>
            </a:r>
          </a:p>
          <a:p>
            <a:r>
              <a:rPr lang="fr-FR" sz="2000" dirty="0"/>
              <a:t>(besoin d’un serveur WSGI)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1182D8A-B034-820A-C541-A8845026A171}"/>
              </a:ext>
            </a:extLst>
          </p:cNvPr>
          <p:cNvSpPr txBox="1"/>
          <p:nvPr/>
        </p:nvSpPr>
        <p:spPr>
          <a:xfrm>
            <a:off x="9265917" y="2904674"/>
            <a:ext cx="2924763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App = Flask(__</a:t>
            </a:r>
            <a:r>
              <a:rPr lang="fr-FR" dirty="0" err="1"/>
              <a:t>name</a:t>
            </a:r>
            <a:r>
              <a:rPr lang="fr-FR" dirty="0"/>
              <a:t>__)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Configure le </a:t>
            </a:r>
            <a:r>
              <a:rPr lang="fr-FR" dirty="0" err="1"/>
              <a:t>rooting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Crée le moteur Jinja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Initialisation des structures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Crée les variables de contextes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dirty="0"/>
              <a:t>Etc.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206EB9FC-0A82-5A15-6972-9FA5FA09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655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F0A19-73DF-92ED-64D7-B4F2C367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08FE133-CDE0-D793-867D-9233ED072325}"/>
              </a:ext>
            </a:extLst>
          </p:cNvPr>
          <p:cNvSpPr/>
          <p:nvPr/>
        </p:nvSpPr>
        <p:spPr>
          <a:xfrm>
            <a:off x="626907" y="2377440"/>
            <a:ext cx="5093719" cy="4154871"/>
          </a:xfrm>
          <a:prstGeom prst="roundRect">
            <a:avLst>
              <a:gd name="adj" fmla="val 6733"/>
            </a:avLst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7C5E234C-F431-E1E1-B3FC-109ADD54FE7C}"/>
              </a:ext>
            </a:extLst>
          </p:cNvPr>
          <p:cNvSpPr/>
          <p:nvPr/>
        </p:nvSpPr>
        <p:spPr>
          <a:xfrm>
            <a:off x="6471374" y="2377440"/>
            <a:ext cx="5093719" cy="4122468"/>
          </a:xfrm>
          <a:prstGeom prst="roundRect">
            <a:avLst>
              <a:gd name="adj" fmla="val 6733"/>
            </a:avLst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6158E-37C7-8645-1722-5ADAE9D0449D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D94234F-4E64-CD23-882D-37640C171C05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A8AE9A1-757D-AA96-DA3D-5840241CBF9A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93F6AB7-BE81-EE69-1C89-DE614E2A9BF0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B70F13D-25D6-AE7D-B87E-B834953FD30A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0B3F85F-E32F-7458-9E6D-B2725C83CDBD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D4C1C1E-8C0C-2D08-8483-651047C1354F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BEFAF12-1BC7-FDC5-7EBC-0C898F6DFC56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6040E1B-1CDB-F3DD-0FAE-10B98BD9A77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4E16ABD-BE34-E3BF-479C-7D0E9128A604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4657B766-3D16-706E-A235-61AC8DEEF32D}"/>
              </a:ext>
            </a:extLst>
          </p:cNvPr>
          <p:cNvCxnSpPr>
            <a:cxnSpLocks/>
          </p:cNvCxnSpPr>
          <p:nvPr/>
        </p:nvCxnSpPr>
        <p:spPr>
          <a:xfrm>
            <a:off x="6112747" y="1899139"/>
            <a:ext cx="0" cy="460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90EAA413-318F-7DF1-0EF4-E4D6B6390C5B}"/>
              </a:ext>
            </a:extLst>
          </p:cNvPr>
          <p:cNvSpPr txBox="1"/>
          <p:nvPr/>
        </p:nvSpPr>
        <p:spPr>
          <a:xfrm>
            <a:off x="1019846" y="1808432"/>
            <a:ext cx="43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fr-FR" sz="2400" dirty="0"/>
              <a:t>Avantages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7F59399-B1A0-C99F-A2FD-97B7DF2ADBAE}"/>
              </a:ext>
            </a:extLst>
          </p:cNvPr>
          <p:cNvSpPr txBox="1"/>
          <p:nvPr/>
        </p:nvSpPr>
        <p:spPr>
          <a:xfrm>
            <a:off x="6864314" y="1817465"/>
            <a:ext cx="43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fr-FR" sz="2400" dirty="0"/>
              <a:t>Inconvénients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251590-A4B8-EF0A-5CDF-BC3B460C7800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40F10524-856A-34F1-E6A5-DFD536A501C5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Flask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EA5F7AD-6D37-ABAD-F803-9EF5AE02B6FE}"/>
              </a:ext>
            </a:extLst>
          </p:cNvPr>
          <p:cNvSpPr txBox="1"/>
          <p:nvPr/>
        </p:nvSpPr>
        <p:spPr>
          <a:xfrm>
            <a:off x="891251" y="1162101"/>
            <a:ext cx="6539696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Avantages - Inconvénients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293C96E-9533-470A-15FC-748E7CCE6D91}"/>
              </a:ext>
            </a:extLst>
          </p:cNvPr>
          <p:cNvSpPr txBox="1"/>
          <p:nvPr/>
        </p:nvSpPr>
        <p:spPr>
          <a:xfrm>
            <a:off x="891250" y="2494196"/>
            <a:ext cx="4829375" cy="39170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400" b="1" dirty="0">
                <a:solidFill>
                  <a:srgbClr val="334051"/>
                </a:solidFill>
              </a:rPr>
              <a:t>Simplicité</a:t>
            </a:r>
            <a:r>
              <a:rPr lang="fr-FR" sz="2400" dirty="0">
                <a:solidFill>
                  <a:srgbClr val="334051"/>
                </a:solidFill>
              </a:rPr>
              <a:t> : prise en main facile.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400" b="1" dirty="0">
                <a:solidFill>
                  <a:srgbClr val="334051"/>
                </a:solidFill>
              </a:rPr>
              <a:t>Flexibilité</a:t>
            </a:r>
            <a:r>
              <a:rPr lang="fr-FR" sz="2400" dirty="0">
                <a:solidFill>
                  <a:srgbClr val="334051"/>
                </a:solidFill>
              </a:rPr>
              <a:t> : pas de structure imposée, choix des outils.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400" b="1" dirty="0">
                <a:solidFill>
                  <a:srgbClr val="334051"/>
                </a:solidFill>
              </a:rPr>
              <a:t>Léger</a:t>
            </a:r>
            <a:r>
              <a:rPr lang="fr-FR" sz="2400" dirty="0">
                <a:solidFill>
                  <a:srgbClr val="334051"/>
                </a:solidFill>
              </a:rPr>
              <a:t> : peu de surcouches.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400" b="1" dirty="0">
                <a:solidFill>
                  <a:srgbClr val="334051"/>
                </a:solidFill>
              </a:rPr>
              <a:t>Ecosystème riche</a:t>
            </a:r>
            <a:r>
              <a:rPr lang="fr-FR" sz="2400" dirty="0">
                <a:solidFill>
                  <a:srgbClr val="334051"/>
                </a:solidFill>
              </a:rPr>
              <a:t> : grand nombre d’utilisateurs.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334051"/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853BCE8E-8F8E-1B3A-E553-3088E65955F9}"/>
              </a:ext>
            </a:extLst>
          </p:cNvPr>
          <p:cNvSpPr txBox="1"/>
          <p:nvPr/>
        </p:nvSpPr>
        <p:spPr>
          <a:xfrm>
            <a:off x="6735717" y="2474327"/>
            <a:ext cx="4753449" cy="39170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285750" indent="-285750">
              <a:lnSpc>
                <a:spcPct val="150000"/>
              </a:lnSpc>
              <a:buFontTx/>
              <a:buChar char="-"/>
              <a:defRPr sz="2000">
                <a:solidFill>
                  <a:srgbClr val="334051"/>
                </a:solidFill>
              </a:defRPr>
            </a:lvl1pPr>
          </a:lstStyle>
          <a:p>
            <a:r>
              <a:rPr lang="fr-FR" sz="2400" b="1" dirty="0"/>
              <a:t>Tout à configurer</a:t>
            </a:r>
            <a:r>
              <a:rPr lang="fr-FR" sz="2400" dirty="0"/>
              <a:t> : </a:t>
            </a:r>
            <a:r>
              <a:rPr lang="fr-FR" sz="2400" dirty="0" err="1"/>
              <a:t>auth</a:t>
            </a:r>
            <a:r>
              <a:rPr lang="fr-FR" sz="2400" dirty="0"/>
              <a:t>, admin, etc.</a:t>
            </a:r>
          </a:p>
          <a:p>
            <a:r>
              <a:rPr lang="fr-FR" sz="2400" b="1" dirty="0"/>
              <a:t>Moins adapté aux gros projets </a:t>
            </a:r>
            <a:r>
              <a:rPr lang="fr-FR" sz="2400" dirty="0"/>
              <a:t>: scalabilité à désiré.</a:t>
            </a:r>
          </a:p>
          <a:p>
            <a:r>
              <a:rPr lang="fr-FR" sz="2400" b="1" dirty="0"/>
              <a:t>Sécurité incertaine</a:t>
            </a:r>
            <a:r>
              <a:rPr lang="fr-FR" sz="2400" dirty="0"/>
              <a:t> : dépendante du niveau du/des développeur(s)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511B337-9106-0570-C931-1F5A0902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644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4617-EB1A-77B1-8C7C-05C0337E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1D175E-C2B0-5BDC-4A6B-91B344E5494B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C667905-32FC-EE8E-AFA1-38D65D955FE0}"/>
              </a:ext>
            </a:extLst>
          </p:cNvPr>
          <p:cNvSpPr txBox="1"/>
          <p:nvPr/>
        </p:nvSpPr>
        <p:spPr>
          <a:xfrm>
            <a:off x="891249" y="236773"/>
            <a:ext cx="77496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Comparaison avec d’autres </a:t>
            </a:r>
            <a:r>
              <a:rPr lang="fr-FR" sz="4400" b="1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frameworks</a:t>
            </a:r>
            <a:endParaRPr lang="fr-FR" sz="4400" b="1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6D3916-2920-3A18-C5AB-7AA0F626F0C2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4240BC6-3E62-F565-95C6-CAAF961743F8}"/>
              </a:ext>
            </a:extLst>
          </p:cNvPr>
          <p:cNvGrpSpPr/>
          <p:nvPr/>
        </p:nvGrpSpPr>
        <p:grpSpPr>
          <a:xfrm>
            <a:off x="8749078" y="54105"/>
            <a:ext cx="2924762" cy="369332"/>
            <a:chOff x="8749078" y="358092"/>
            <a:chExt cx="2924762" cy="369332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9C2246-0A73-C4A2-68C1-641A2D177B2E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644590D8-DE26-3FDF-3F63-B675419A0DDD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Flask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0F1B80A5-869F-A5D0-27BA-6B85AB42FCE7}"/>
              </a:ext>
            </a:extLst>
          </p:cNvPr>
          <p:cNvGrpSpPr/>
          <p:nvPr/>
        </p:nvGrpSpPr>
        <p:grpSpPr>
          <a:xfrm>
            <a:off x="8749078" y="341636"/>
            <a:ext cx="2924762" cy="369332"/>
            <a:chOff x="8749078" y="645623"/>
            <a:chExt cx="2924762" cy="369332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E2F17131-75A9-0050-D903-4E778E2DBF0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558F5A04-D576-FE37-ABA7-E4B200F2D9F9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63058ECF-7B3B-85BC-8FD5-0F833809D3AD}"/>
              </a:ext>
            </a:extLst>
          </p:cNvPr>
          <p:cNvGrpSpPr/>
          <p:nvPr/>
        </p:nvGrpSpPr>
        <p:grpSpPr>
          <a:xfrm>
            <a:off x="8749078" y="645624"/>
            <a:ext cx="3144789" cy="369332"/>
            <a:chOff x="8749078" y="949611"/>
            <a:chExt cx="3144789" cy="369332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3050347-E1EA-5F2F-4ACF-4A46BD9C8F9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605244C3-520E-FA0D-99D1-910236F874C7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4E76066-CFD0-3BAA-C314-FB485516D443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7B6759BB-81EE-51D2-D954-E68D1AE5A6F7}"/>
              </a:ext>
            </a:extLst>
          </p:cNvPr>
          <p:cNvGrpSpPr/>
          <p:nvPr/>
        </p:nvGrpSpPr>
        <p:grpSpPr>
          <a:xfrm>
            <a:off x="8749077" y="956759"/>
            <a:ext cx="3144789" cy="369332"/>
            <a:chOff x="8749078" y="949611"/>
            <a:chExt cx="3144789" cy="369332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DB7D95C0-A9C0-E88E-0174-1863D2AB9C5D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B2AF33A1-AB48-6C89-84E0-6E817D1CB4E1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aphicFrame>
        <p:nvGraphicFramePr>
          <p:cNvPr id="46" name="Tableau 45">
            <a:extLst>
              <a:ext uri="{FF2B5EF4-FFF2-40B4-BE49-F238E27FC236}">
                <a16:creationId xmlns:a16="http://schemas.microsoft.com/office/drawing/2014/main" id="{532A0827-B744-C675-9FD8-E7CCD501A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79135"/>
              </p:ext>
            </p:extLst>
          </p:nvPr>
        </p:nvGraphicFramePr>
        <p:xfrm>
          <a:off x="520753" y="1690470"/>
          <a:ext cx="11153085" cy="50902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0617">
                  <a:extLst>
                    <a:ext uri="{9D8B030D-6E8A-4147-A177-3AD203B41FA5}">
                      <a16:colId xmlns:a16="http://schemas.microsoft.com/office/drawing/2014/main" val="2302481423"/>
                    </a:ext>
                  </a:extLst>
                </a:gridCol>
                <a:gridCol w="2230617">
                  <a:extLst>
                    <a:ext uri="{9D8B030D-6E8A-4147-A177-3AD203B41FA5}">
                      <a16:colId xmlns:a16="http://schemas.microsoft.com/office/drawing/2014/main" val="2518524626"/>
                    </a:ext>
                  </a:extLst>
                </a:gridCol>
                <a:gridCol w="2230617">
                  <a:extLst>
                    <a:ext uri="{9D8B030D-6E8A-4147-A177-3AD203B41FA5}">
                      <a16:colId xmlns:a16="http://schemas.microsoft.com/office/drawing/2014/main" val="3377237741"/>
                    </a:ext>
                  </a:extLst>
                </a:gridCol>
                <a:gridCol w="2230617">
                  <a:extLst>
                    <a:ext uri="{9D8B030D-6E8A-4147-A177-3AD203B41FA5}">
                      <a16:colId xmlns:a16="http://schemas.microsoft.com/office/drawing/2014/main" val="3374937788"/>
                    </a:ext>
                  </a:extLst>
                </a:gridCol>
                <a:gridCol w="2230617">
                  <a:extLst>
                    <a:ext uri="{9D8B030D-6E8A-4147-A177-3AD203B41FA5}">
                      <a16:colId xmlns:a16="http://schemas.microsoft.com/office/drawing/2014/main" val="1768596158"/>
                    </a:ext>
                  </a:extLst>
                </a:gridCol>
              </a:tblGrid>
              <a:tr h="236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Critère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Flask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FastAPI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Django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 err="1">
                          <a:effectLst/>
                          <a:latin typeface="+mj-lt"/>
                        </a:rPr>
                        <a:t>Streamlit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058553"/>
                  </a:ext>
                </a:extLst>
              </a:tr>
              <a:tr h="4665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Modèle d’exécution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Synchrone (WSGI)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Asynchrone natif (ASGI)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Synchrone (WSGI) + async partiel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Synchrone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4089810252"/>
                  </a:ext>
                </a:extLst>
              </a:tr>
              <a:tr h="4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Interface serveur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WSGI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ASGI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u="none" strike="noStrike" dirty="0">
                          <a:effectLst/>
                          <a:latin typeface="+mj-lt"/>
                        </a:rPr>
                        <a:t>WSGI (ASGI via Django 3+)</a:t>
                      </a:r>
                      <a:endParaRPr lang="it-IT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Serveur interne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1929725973"/>
                  </a:ext>
                </a:extLst>
              </a:tr>
              <a:tr h="755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Typage &amp; validation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 natif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Typage Python + </a:t>
                      </a:r>
                      <a:r>
                        <a:rPr lang="fr-FR" sz="1600" u="none" strike="noStrike" dirty="0" err="1">
                          <a:effectLst/>
                          <a:latin typeface="+mj-lt"/>
                        </a:rPr>
                        <a:t>Pydantic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Forms / Serializers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 orienté API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4104361610"/>
                  </a:ext>
                </a:extLst>
              </a:tr>
              <a:tr h="3020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ORM intégré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Oui (ORM complet)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3008081338"/>
                  </a:ext>
                </a:extLst>
              </a:tr>
              <a:tr h="4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Philosophie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Microframework minimaliste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API-first, moderne, typé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Framework full-stack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Data app interactive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3365920098"/>
                  </a:ext>
                </a:extLst>
              </a:tr>
              <a:tr h="4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Performance brute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Bonne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Très élevée (async + Starlette)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Moyenne à bonne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 optimisé pour API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3846758274"/>
                  </a:ext>
                </a:extLst>
              </a:tr>
              <a:tr h="6040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Gestion utilisateurs / </a:t>
                      </a:r>
                      <a:r>
                        <a:rPr lang="fr-FR" sz="1600" u="none" strike="noStrike" dirty="0" err="1">
                          <a:effectLst/>
                          <a:latin typeface="+mj-lt"/>
                        </a:rPr>
                        <a:t>auth</a:t>
                      </a: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 intégrée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Oui (auth complet natif)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Non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2846542084"/>
                  </a:ext>
                </a:extLst>
              </a:tr>
              <a:tr h="4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Cas d’usage principal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API simple, app légère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API REST haute performance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Applications web complexes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Dashboards data science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972572698"/>
                  </a:ext>
                </a:extLst>
              </a:tr>
              <a:tr h="3020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Architecture interne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Werkzeug + Jinja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Starlette + Pydantic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Monolithique intégré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Script réactif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200297686"/>
                  </a:ext>
                </a:extLst>
              </a:tr>
              <a:tr h="4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Structure imposée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>
                    <a:solidFill>
                      <a:srgbClr val="BAC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Aucune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Faible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>
                          <a:effectLst/>
                          <a:latin typeface="+mj-lt"/>
                        </a:rPr>
                        <a:t>Forte structure MVC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u="none" strike="noStrike" dirty="0">
                          <a:effectLst/>
                          <a:latin typeface="+mj-lt"/>
                        </a:rPr>
                        <a:t>Script linéaire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333" marR="5333" marT="5333" marB="0" anchor="ctr"/>
                </a:tc>
                <a:extLst>
                  <a:ext uri="{0D108BD9-81ED-4DB2-BD59-A6C34878D82A}">
                    <a16:rowId xmlns:a16="http://schemas.microsoft.com/office/drawing/2014/main" val="397425208"/>
                  </a:ext>
                </a:extLst>
              </a:tr>
            </a:tbl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F5D0314-7124-7B90-0B58-87811505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79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DC21-4ECE-0DFB-9F25-162C9CA3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B75F52B-B9AF-9CB4-6A67-B0B1812CDB3B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46D095E-A95A-FB65-DF26-091F43811B43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et écosystème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595796-0115-B623-5AAA-884421B4CDA3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B4A99D-9F98-E78F-1777-4DE70D5F624B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860E2D7C-FEF5-4A2C-98CC-881247450164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F18BE5D9-E039-1E0B-D14C-08922C5BDC57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95EC2696-8881-2901-6FD7-0B55682556FC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CA615E96-C9AB-A328-45BE-EC966A77C0F4}"/>
              </a:ext>
            </a:extLst>
          </p:cNvPr>
          <p:cNvGrpSpPr/>
          <p:nvPr/>
        </p:nvGrpSpPr>
        <p:grpSpPr>
          <a:xfrm>
            <a:off x="8749078" y="385942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F7C88F52-FDB4-FB8D-8EF9-CEF89CA6E0D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0536C75-3A71-AF10-A189-997F56FF27A4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FADB2755-7CE0-8E1D-C979-0EC057D358EF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6609727B-F610-ABA6-CC91-5C1F05DDE478}"/>
              </a:ext>
            </a:extLst>
          </p:cNvPr>
          <p:cNvGrpSpPr/>
          <p:nvPr/>
        </p:nvGrpSpPr>
        <p:grpSpPr>
          <a:xfrm>
            <a:off x="8749077" y="697077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1E739A0D-70E3-1529-EA22-7F613097BC4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35030507-8792-E1B5-E8F2-0B704D6C2DB0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BD82C797-5AED-5C4A-EFA0-47E8C2A19A11}"/>
              </a:ext>
            </a:extLst>
          </p:cNvPr>
          <p:cNvGrpSpPr/>
          <p:nvPr/>
        </p:nvGrpSpPr>
        <p:grpSpPr>
          <a:xfrm>
            <a:off x="8749077" y="1008212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9BC1CB7B-4011-B4A5-66F1-A148ED356683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24DD645-64BC-2C7E-923D-DD43C7AED1C2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sp>
        <p:nvSpPr>
          <p:cNvPr id="54" name="ZoneTexte 53">
            <a:extLst>
              <a:ext uri="{FF2B5EF4-FFF2-40B4-BE49-F238E27FC236}">
                <a16:creationId xmlns:a16="http://schemas.microsoft.com/office/drawing/2014/main" id="{364F8476-70E3-6F01-3C4A-78D1DDDA5947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d’un projet Flask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88DD6E27-6D70-BA42-3CFC-93174DA858FF}"/>
              </a:ext>
            </a:extLst>
          </p:cNvPr>
          <p:cNvSpPr/>
          <p:nvPr/>
        </p:nvSpPr>
        <p:spPr>
          <a:xfrm>
            <a:off x="419548" y="1753496"/>
            <a:ext cx="5499731" cy="4867731"/>
          </a:xfrm>
          <a:prstGeom prst="roundRect">
            <a:avLst>
              <a:gd name="adj" fmla="val 4525"/>
            </a:avLst>
          </a:prstGeom>
          <a:solidFill>
            <a:srgbClr val="EDE7E3"/>
          </a:solidFill>
          <a:ln>
            <a:solidFill>
              <a:srgbClr val="0E1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>
              <a:solidFill>
                <a:srgbClr val="0E1820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19F95F6-C485-FFFF-F68B-9C7626B2DF78}"/>
              </a:ext>
            </a:extLst>
          </p:cNvPr>
          <p:cNvSpPr txBox="1"/>
          <p:nvPr/>
        </p:nvSpPr>
        <p:spPr>
          <a:xfrm>
            <a:off x="564063" y="1972730"/>
            <a:ext cx="5355218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mon_projet</a:t>
            </a:r>
            <a:r>
              <a:rPr lang="fr-FR" dirty="0"/>
              <a:t>/</a:t>
            </a:r>
          </a:p>
          <a:p>
            <a:r>
              <a:rPr lang="fr-FR" dirty="0"/>
              <a:t>	run.py</a:t>
            </a:r>
          </a:p>
          <a:p>
            <a:r>
              <a:rPr lang="fr-FR" dirty="0"/>
              <a:t>	requirements.txt</a:t>
            </a:r>
          </a:p>
          <a:p>
            <a:r>
              <a:rPr lang="fr-FR" dirty="0"/>
              <a:t>	app/</a:t>
            </a:r>
          </a:p>
          <a:p>
            <a:r>
              <a:rPr lang="fr-FR" dirty="0"/>
              <a:t>		__init__.py</a:t>
            </a:r>
          </a:p>
          <a:p>
            <a:r>
              <a:rPr lang="fr-FR" dirty="0"/>
              <a:t>		routes.py</a:t>
            </a:r>
          </a:p>
          <a:p>
            <a:r>
              <a:rPr lang="fr-FR" dirty="0"/>
              <a:t>		services/</a:t>
            </a:r>
          </a:p>
          <a:p>
            <a:r>
              <a:rPr lang="fr-FR" dirty="0"/>
              <a:t>			user_service.py</a:t>
            </a:r>
          </a:p>
          <a:p>
            <a:r>
              <a:rPr lang="fr-FR" dirty="0"/>
              <a:t>		</a:t>
            </a:r>
            <a:r>
              <a:rPr lang="fr-FR" dirty="0" err="1"/>
              <a:t>templates</a:t>
            </a:r>
            <a:r>
              <a:rPr lang="fr-FR" dirty="0"/>
              <a:t>/</a:t>
            </a:r>
          </a:p>
          <a:p>
            <a:r>
              <a:rPr lang="fr-FR" dirty="0"/>
              <a:t>			base.html</a:t>
            </a:r>
          </a:p>
          <a:p>
            <a:r>
              <a:rPr lang="fr-FR" dirty="0"/>
              <a:t>		</a:t>
            </a:r>
            <a:r>
              <a:rPr lang="fr-FR" dirty="0" err="1"/>
              <a:t>static</a:t>
            </a:r>
            <a:r>
              <a:rPr lang="fr-FR" dirty="0"/>
              <a:t>/</a:t>
            </a:r>
          </a:p>
          <a:p>
            <a:r>
              <a:rPr lang="fr-FR" dirty="0"/>
              <a:t>			</a:t>
            </a:r>
            <a:r>
              <a:rPr lang="fr-FR" dirty="0" err="1"/>
              <a:t>css</a:t>
            </a:r>
            <a:r>
              <a:rPr lang="fr-FR" dirty="0"/>
              <a:t>/</a:t>
            </a:r>
          </a:p>
          <a:p>
            <a:r>
              <a:rPr lang="fr-FR" dirty="0"/>
              <a:t>			images/</a:t>
            </a:r>
          </a:p>
          <a:p>
            <a:r>
              <a:rPr lang="fr-FR" dirty="0"/>
              <a:t>			</a:t>
            </a:r>
            <a:r>
              <a:rPr lang="fr-FR" dirty="0" err="1"/>
              <a:t>js</a:t>
            </a:r>
            <a:r>
              <a:rPr lang="fr-FR" dirty="0"/>
              <a:t>/</a:t>
            </a:r>
          </a:p>
          <a:p>
            <a:r>
              <a:rPr lang="fr-FR" dirty="0"/>
              <a:t>		data/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ABC91826-7CF6-1465-4017-1B16A77BD4E7}"/>
              </a:ext>
            </a:extLst>
          </p:cNvPr>
          <p:cNvGrpSpPr/>
          <p:nvPr/>
        </p:nvGrpSpPr>
        <p:grpSpPr>
          <a:xfrm>
            <a:off x="823745" y="2338490"/>
            <a:ext cx="2562114" cy="3627119"/>
            <a:chOff x="1000461" y="2119256"/>
            <a:chExt cx="2562114" cy="3627119"/>
          </a:xfrm>
        </p:grpSpPr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2A647DF4-91CC-2D85-8CF2-D711C935CBE5}"/>
                </a:ext>
              </a:extLst>
            </p:cNvPr>
            <p:cNvCxnSpPr>
              <a:cxnSpLocks/>
            </p:cNvCxnSpPr>
            <p:nvPr/>
          </p:nvCxnSpPr>
          <p:spPr>
            <a:xfrm>
              <a:off x="1000461" y="2119256"/>
              <a:ext cx="0" cy="6131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9A60D57E-5BDB-45C8-63E7-2AE8672B3989}"/>
                </a:ext>
              </a:extLst>
            </p:cNvPr>
            <p:cNvCxnSpPr/>
            <p:nvPr/>
          </p:nvCxnSpPr>
          <p:spPr>
            <a:xfrm flipH="1">
              <a:off x="1000461" y="2194560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F173346C-67EB-4D7C-472C-BEAE749D4FFA}"/>
                </a:ext>
              </a:extLst>
            </p:cNvPr>
            <p:cNvCxnSpPr/>
            <p:nvPr/>
          </p:nvCxnSpPr>
          <p:spPr>
            <a:xfrm flipH="1">
              <a:off x="1000461" y="2476051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C7004554-1535-C2ED-5E41-BD83367BD704}"/>
                </a:ext>
              </a:extLst>
            </p:cNvPr>
            <p:cNvCxnSpPr/>
            <p:nvPr/>
          </p:nvCxnSpPr>
          <p:spPr>
            <a:xfrm flipH="1">
              <a:off x="1000461" y="2732442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97F807DC-E302-9B6D-E33A-B20A4A3C0353}"/>
                </a:ext>
              </a:extLst>
            </p:cNvPr>
            <p:cNvCxnSpPr>
              <a:cxnSpLocks/>
            </p:cNvCxnSpPr>
            <p:nvPr/>
          </p:nvCxnSpPr>
          <p:spPr>
            <a:xfrm>
              <a:off x="1916654" y="2927872"/>
              <a:ext cx="0" cy="2818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C74923D2-8B49-7EA3-05A9-956EC40F8C37}"/>
                </a:ext>
              </a:extLst>
            </p:cNvPr>
            <p:cNvCxnSpPr/>
            <p:nvPr/>
          </p:nvCxnSpPr>
          <p:spPr>
            <a:xfrm flipH="1">
              <a:off x="1916654" y="3026483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7A4C1F8A-2518-59F8-7DBC-CE8828A94C87}"/>
                </a:ext>
              </a:extLst>
            </p:cNvPr>
            <p:cNvCxnSpPr/>
            <p:nvPr/>
          </p:nvCxnSpPr>
          <p:spPr>
            <a:xfrm flipH="1">
              <a:off x="1916654" y="3297217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68">
              <a:extLst>
                <a:ext uri="{FF2B5EF4-FFF2-40B4-BE49-F238E27FC236}">
                  <a16:creationId xmlns:a16="http://schemas.microsoft.com/office/drawing/2014/main" id="{FEC253A6-5054-DC33-06BC-1E9EA528F016}"/>
                </a:ext>
              </a:extLst>
            </p:cNvPr>
            <p:cNvCxnSpPr/>
            <p:nvPr/>
          </p:nvCxnSpPr>
          <p:spPr>
            <a:xfrm flipH="1">
              <a:off x="1916654" y="3567951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33BB2F16-2455-EA8A-A15C-791E43428941}"/>
                </a:ext>
              </a:extLst>
            </p:cNvPr>
            <p:cNvCxnSpPr/>
            <p:nvPr/>
          </p:nvCxnSpPr>
          <p:spPr>
            <a:xfrm flipH="1">
              <a:off x="1916654" y="4096869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33E5418D-5FDD-6217-00BB-17CBA93EC0C6}"/>
                </a:ext>
              </a:extLst>
            </p:cNvPr>
            <p:cNvCxnSpPr/>
            <p:nvPr/>
          </p:nvCxnSpPr>
          <p:spPr>
            <a:xfrm flipH="1">
              <a:off x="1916654" y="4658060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eur droit 71">
              <a:extLst>
                <a:ext uri="{FF2B5EF4-FFF2-40B4-BE49-F238E27FC236}">
                  <a16:creationId xmlns:a16="http://schemas.microsoft.com/office/drawing/2014/main" id="{0E223789-F9EB-4709-AD17-BA19494123DA}"/>
                </a:ext>
              </a:extLst>
            </p:cNvPr>
            <p:cNvCxnSpPr/>
            <p:nvPr/>
          </p:nvCxnSpPr>
          <p:spPr>
            <a:xfrm flipH="1">
              <a:off x="1916654" y="5746375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3BDD07A7-C858-C9FA-F740-10B1D4ABA18B}"/>
                </a:ext>
              </a:extLst>
            </p:cNvPr>
            <p:cNvCxnSpPr>
              <a:cxnSpLocks/>
            </p:cNvCxnSpPr>
            <p:nvPr/>
          </p:nvCxnSpPr>
          <p:spPr>
            <a:xfrm>
              <a:off x="2841812" y="3670150"/>
              <a:ext cx="0" cy="1792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EAB42B10-F9F5-4024-D844-C85A8EB421E4}"/>
                </a:ext>
              </a:extLst>
            </p:cNvPr>
            <p:cNvCxnSpPr/>
            <p:nvPr/>
          </p:nvCxnSpPr>
          <p:spPr>
            <a:xfrm flipH="1">
              <a:off x="2841812" y="3849443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CA5BAEA2-5043-B136-9BB1-42E1A148B6B3}"/>
                </a:ext>
              </a:extLst>
            </p:cNvPr>
            <p:cNvCxnSpPr>
              <a:cxnSpLocks/>
            </p:cNvCxnSpPr>
            <p:nvPr/>
          </p:nvCxnSpPr>
          <p:spPr>
            <a:xfrm>
              <a:off x="2841812" y="4220583"/>
              <a:ext cx="0" cy="1792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79">
              <a:extLst>
                <a:ext uri="{FF2B5EF4-FFF2-40B4-BE49-F238E27FC236}">
                  <a16:creationId xmlns:a16="http://schemas.microsoft.com/office/drawing/2014/main" id="{ECED7CAE-4761-1381-A74E-5374C709533F}"/>
                </a:ext>
              </a:extLst>
            </p:cNvPr>
            <p:cNvCxnSpPr/>
            <p:nvPr/>
          </p:nvCxnSpPr>
          <p:spPr>
            <a:xfrm flipH="1">
              <a:off x="2841812" y="4399876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id="{339C6CE8-0CC2-61E8-7C11-3A6E2B1A19E7}"/>
                </a:ext>
              </a:extLst>
            </p:cNvPr>
            <p:cNvCxnSpPr>
              <a:cxnSpLocks/>
            </p:cNvCxnSpPr>
            <p:nvPr/>
          </p:nvCxnSpPr>
          <p:spPr>
            <a:xfrm>
              <a:off x="2841812" y="4803289"/>
              <a:ext cx="0" cy="736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96BEC46F-C596-313F-56AD-0ECC0A9A42CA}"/>
                </a:ext>
              </a:extLst>
            </p:cNvPr>
            <p:cNvCxnSpPr/>
            <p:nvPr/>
          </p:nvCxnSpPr>
          <p:spPr>
            <a:xfrm flipH="1">
              <a:off x="2841812" y="4982582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578FF0D5-1885-CF4B-37C3-34D565CC1658}"/>
                </a:ext>
              </a:extLst>
            </p:cNvPr>
            <p:cNvCxnSpPr/>
            <p:nvPr/>
          </p:nvCxnSpPr>
          <p:spPr>
            <a:xfrm flipH="1">
              <a:off x="2841812" y="5533015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3C7BEC6E-151D-E2CB-1B47-5055AD515475}"/>
                </a:ext>
              </a:extLst>
            </p:cNvPr>
            <p:cNvCxnSpPr/>
            <p:nvPr/>
          </p:nvCxnSpPr>
          <p:spPr>
            <a:xfrm flipH="1">
              <a:off x="2841812" y="5233594"/>
              <a:ext cx="7207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BFC8A26B-079B-BD10-9E9E-26C26C9C3EAF}"/>
              </a:ext>
            </a:extLst>
          </p:cNvPr>
          <p:cNvCxnSpPr>
            <a:cxnSpLocks/>
          </p:cNvCxnSpPr>
          <p:nvPr/>
        </p:nvCxnSpPr>
        <p:spPr>
          <a:xfrm>
            <a:off x="6112747" y="1899139"/>
            <a:ext cx="0" cy="460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B0614D12-7F81-B65C-9D1B-AE65E4DFF340}"/>
              </a:ext>
            </a:extLst>
          </p:cNvPr>
          <p:cNvGrpSpPr/>
          <p:nvPr/>
        </p:nvGrpSpPr>
        <p:grpSpPr>
          <a:xfrm>
            <a:off x="6306214" y="2161033"/>
            <a:ext cx="4741890" cy="2718705"/>
            <a:chOff x="1661160" y="3886200"/>
            <a:chExt cx="5859921" cy="187720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D7F6C06-341D-5ABF-464C-3D9DD2924943}"/>
                </a:ext>
              </a:extLst>
            </p:cNvPr>
            <p:cNvSpPr/>
            <p:nvPr/>
          </p:nvSpPr>
          <p:spPr>
            <a:xfrm>
              <a:off x="1661160" y="3886201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flask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import Flask</a:t>
              </a:r>
            </a:p>
            <a:p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create_app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app = Flask(__</a:t>
              </a:r>
              <a:r>
                <a:rPr lang="fr-FR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__)</a:t>
              </a:r>
            </a:p>
            <a:p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# instanciation des routes :</a:t>
              </a: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from .routes import 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main_blueprint</a:t>
              </a:r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</a:t>
              </a: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app.register_blueprint</a:t>
              </a:r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main_blueprint</a:t>
              </a:r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 ici appeler tout ce qui doit être appelé :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# création de base de données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# différents services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# etc.</a:t>
              </a:r>
            </a:p>
            <a:p>
              <a:r>
                <a:rPr lang="fr-FR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app</a:t>
              </a:r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46FD153E-75ED-2C8F-4244-D8E32DA0BF02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5D9BE21C-D262-79B0-DCC6-89F14B124002}"/>
              </a:ext>
            </a:extLst>
          </p:cNvPr>
          <p:cNvGrpSpPr/>
          <p:nvPr/>
        </p:nvGrpSpPr>
        <p:grpSpPr>
          <a:xfrm>
            <a:off x="6306214" y="5358468"/>
            <a:ext cx="4741890" cy="967028"/>
            <a:chOff x="1661160" y="3886200"/>
            <a:chExt cx="5859921" cy="1877205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EFC64D7-224E-B98C-F907-AC0CF8797BF3}"/>
                </a:ext>
              </a:extLst>
            </p:cNvPr>
            <p:cNvSpPr/>
            <p:nvPr/>
          </p:nvSpPr>
          <p:spPr>
            <a:xfrm>
              <a:off x="1661160" y="3886201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app import 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create_app</a:t>
              </a:r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 = </a:t>
              </a:r>
              <a:r>
                <a:rPr lang="en-US" sz="1200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create_app</a:t>
              </a:r>
              <a:r>
                <a:rPr lang="en-US" sz="1200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fr-FR" sz="1200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4" name="Connecteur droit 93">
              <a:extLst>
                <a:ext uri="{FF2B5EF4-FFF2-40B4-BE49-F238E27FC236}">
                  <a16:creationId xmlns:a16="http://schemas.microsoft.com/office/drawing/2014/main" id="{F194E723-F0E8-8FC5-A6DE-B62C2266BC3C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ZoneTexte 94">
            <a:extLst>
              <a:ext uri="{FF2B5EF4-FFF2-40B4-BE49-F238E27FC236}">
                <a16:creationId xmlns:a16="http://schemas.microsoft.com/office/drawing/2014/main" id="{755BD09F-6E3B-A566-8343-7F576F693D5F}"/>
              </a:ext>
            </a:extLst>
          </p:cNvPr>
          <p:cNvSpPr txBox="1"/>
          <p:nvPr/>
        </p:nvSpPr>
        <p:spPr>
          <a:xfrm>
            <a:off x="6306214" y="4877294"/>
            <a:ext cx="43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sz="2400" dirty="0"/>
              <a:t>run.py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80E163DF-D8F3-AB9F-CC0A-9D41E5145AB5}"/>
              </a:ext>
            </a:extLst>
          </p:cNvPr>
          <p:cNvSpPr txBox="1"/>
          <p:nvPr/>
        </p:nvSpPr>
        <p:spPr>
          <a:xfrm>
            <a:off x="6306214" y="1668306"/>
            <a:ext cx="43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sz="2400" b="0" dirty="0"/>
              <a:t>app/__init__.py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E2E7A3-6C43-BF82-8714-1CA23324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995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43FB-947C-7C20-E23B-CF19F2B7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66055B67-A7AF-A8A1-621D-F5F515AD22C1}"/>
              </a:ext>
            </a:extLst>
          </p:cNvPr>
          <p:cNvSpPr/>
          <p:nvPr/>
        </p:nvSpPr>
        <p:spPr>
          <a:xfrm>
            <a:off x="4209985" y="1786178"/>
            <a:ext cx="3791016" cy="4827982"/>
          </a:xfrm>
          <a:prstGeom prst="roundRect">
            <a:avLst>
              <a:gd name="adj" fmla="val 5729"/>
            </a:avLst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872384-7F64-3FCE-968F-9971DF4C29A0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2D4FB2E-F880-7CA5-9EE0-88366FD4BCA3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et écosystème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53F17A-C27D-DE6D-34E9-4F9915F4784E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D6D933-F2B6-7925-A45D-2F3CEC50DFE2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33770E1E-061A-6F18-B7CA-D8A6F184DF5A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57B31A31-9A71-47E4-E06C-B0A9AE899A80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E6F36D12-1B0A-1715-F1F1-1CFB0E5F6AD4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99F8B0BA-79C8-8A45-02C4-6C9C9D706E68}"/>
              </a:ext>
            </a:extLst>
          </p:cNvPr>
          <p:cNvGrpSpPr/>
          <p:nvPr/>
        </p:nvGrpSpPr>
        <p:grpSpPr>
          <a:xfrm>
            <a:off x="8749078" y="385942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A61FFD9C-07E6-2A17-3729-10ABC5B77FB5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4FF9C37F-228D-3175-E8A9-2865D0C33ABD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98C7C3D-AE14-8C6E-75A2-DA07AC889E01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D2B3A237-8720-9896-4675-64E1C0FBA0B5}"/>
              </a:ext>
            </a:extLst>
          </p:cNvPr>
          <p:cNvGrpSpPr/>
          <p:nvPr/>
        </p:nvGrpSpPr>
        <p:grpSpPr>
          <a:xfrm>
            <a:off x="8749077" y="697077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62666780-2F85-F7E9-0D83-5F476593D211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BF8AEAE5-FD7F-4847-DF56-B81025500CAE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1BFBFF4D-6BFD-AA1F-49DF-4328A32F1350}"/>
              </a:ext>
            </a:extLst>
          </p:cNvPr>
          <p:cNvGrpSpPr/>
          <p:nvPr/>
        </p:nvGrpSpPr>
        <p:grpSpPr>
          <a:xfrm>
            <a:off x="8749077" y="1008212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E6274F67-41B2-6A82-245F-4FA68B5CE37C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BCED4CAC-CB8E-8CD3-51E3-E04BDBEC8C6D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A5B039D-F810-5B97-2FAE-3EC5E49DA234}"/>
              </a:ext>
            </a:extLst>
          </p:cNvPr>
          <p:cNvSpPr txBox="1"/>
          <p:nvPr/>
        </p:nvSpPr>
        <p:spPr>
          <a:xfrm>
            <a:off x="891250" y="1162101"/>
            <a:ext cx="7392411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Technologies d’un projet Flask selon leurs couches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F8A6A72-3076-AB21-5EDD-D1F4362B64EA}"/>
              </a:ext>
            </a:extLst>
          </p:cNvPr>
          <p:cNvSpPr/>
          <p:nvPr/>
        </p:nvSpPr>
        <p:spPr>
          <a:xfrm>
            <a:off x="137161" y="1805072"/>
            <a:ext cx="3901440" cy="4809088"/>
          </a:xfrm>
          <a:prstGeom prst="roundRect">
            <a:avLst>
              <a:gd name="adj" fmla="val 5729"/>
            </a:avLst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20E53C1-EA39-EE3B-6FAD-E42045FA794A}"/>
              </a:ext>
            </a:extLst>
          </p:cNvPr>
          <p:cNvSpPr/>
          <p:nvPr/>
        </p:nvSpPr>
        <p:spPr>
          <a:xfrm>
            <a:off x="137160" y="2016726"/>
            <a:ext cx="3901439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Navigateur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526E0CA-DC2E-770C-1F66-A21C3C76EA2A}"/>
              </a:ext>
            </a:extLst>
          </p:cNvPr>
          <p:cNvSpPr txBox="1"/>
          <p:nvPr/>
        </p:nvSpPr>
        <p:spPr>
          <a:xfrm>
            <a:off x="137161" y="5668911"/>
            <a:ext cx="3901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fr-FR" sz="2400" b="0" dirty="0"/>
              <a:t>Côté client</a:t>
            </a:r>
          </a:p>
          <a:p>
            <a:pPr algn="ctr"/>
            <a:r>
              <a:rPr lang="fr-FR" sz="2400" b="0" dirty="0" err="1"/>
              <a:t>FrontEnd</a:t>
            </a:r>
            <a:endParaRPr lang="fr-FR" sz="2400" b="0" dirty="0"/>
          </a:p>
        </p:txBody>
      </p:sp>
      <p:pic>
        <p:nvPicPr>
          <p:cNvPr id="22" name="Image 21" descr="Une image contenant Graphique, orange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0D0068EF-4E68-E4D0-6BE6-2BEB0CB6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856315"/>
            <a:ext cx="1472915" cy="1472915"/>
          </a:xfrm>
          <a:prstGeom prst="rect">
            <a:avLst/>
          </a:prstGeom>
        </p:spPr>
      </p:pic>
      <p:pic>
        <p:nvPicPr>
          <p:cNvPr id="23" name="Image 22" descr="Une image contenant Bleu électrique, capture d’écran, symbole, Graphique&#10;&#10;Le contenu généré par l’IA peut être incorrect.">
            <a:extLst>
              <a:ext uri="{FF2B5EF4-FFF2-40B4-BE49-F238E27FC236}">
                <a16:creationId xmlns:a16="http://schemas.microsoft.com/office/drawing/2014/main" id="{AEB8855C-5D6F-2875-4D3D-779472915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79" y="2837421"/>
            <a:ext cx="2384676" cy="1491809"/>
          </a:xfrm>
          <a:prstGeom prst="rect">
            <a:avLst/>
          </a:prstGeom>
        </p:spPr>
      </p:pic>
      <p:pic>
        <p:nvPicPr>
          <p:cNvPr id="24" name="Picture 2" descr="JavaScript Logo">
            <a:extLst>
              <a:ext uri="{FF2B5EF4-FFF2-40B4-BE49-F238E27FC236}">
                <a16:creationId xmlns:a16="http://schemas.microsoft.com/office/drawing/2014/main" id="{7925DA2A-7684-1968-E694-D14F6312C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48" y="3474326"/>
            <a:ext cx="3020861" cy="170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8BEFDA3-A98A-41CB-ED18-6E9556069A56}"/>
              </a:ext>
            </a:extLst>
          </p:cNvPr>
          <p:cNvSpPr/>
          <p:nvPr/>
        </p:nvSpPr>
        <p:spPr>
          <a:xfrm>
            <a:off x="4209986" y="1963456"/>
            <a:ext cx="3791015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Routes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F088139-CE56-5A12-3E6A-8D01CE447DB8}"/>
              </a:ext>
            </a:extLst>
          </p:cNvPr>
          <p:cNvCxnSpPr>
            <a:cxnSpLocks/>
          </p:cNvCxnSpPr>
          <p:nvPr/>
        </p:nvCxnSpPr>
        <p:spPr>
          <a:xfrm>
            <a:off x="3598309" y="2374516"/>
            <a:ext cx="1091580" cy="0"/>
          </a:xfrm>
          <a:prstGeom prst="straightConnector1">
            <a:avLst/>
          </a:prstGeom>
          <a:ln w="101600">
            <a:solidFill>
              <a:srgbClr val="C244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Image 29">
            <a:extLst>
              <a:ext uri="{FF2B5EF4-FFF2-40B4-BE49-F238E27FC236}">
                <a16:creationId xmlns:a16="http://schemas.microsoft.com/office/drawing/2014/main" id="{B5727ADA-424D-0E25-5364-D1F198C15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188" y="2792625"/>
            <a:ext cx="1625034" cy="2163562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9ADBCF61-06EB-39DB-AE52-CDD1E70CFAD0}"/>
              </a:ext>
            </a:extLst>
          </p:cNvPr>
          <p:cNvSpPr txBox="1"/>
          <p:nvPr/>
        </p:nvSpPr>
        <p:spPr>
          <a:xfrm>
            <a:off x="4209985" y="5668911"/>
            <a:ext cx="3791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fr-FR" sz="2400" b="0" dirty="0"/>
              <a:t>Côté serveur </a:t>
            </a:r>
          </a:p>
          <a:p>
            <a:pPr algn="ctr"/>
            <a:r>
              <a:rPr lang="fr-FR" sz="2400" b="0" dirty="0"/>
              <a:t>Api </a:t>
            </a:r>
            <a:r>
              <a:rPr lang="fr-FR" sz="2400" b="0" dirty="0" err="1"/>
              <a:t>endpoints</a:t>
            </a:r>
            <a:endParaRPr lang="fr-FR" sz="2400" b="0" dirty="0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4B47955-03D7-BACA-95C1-62E6FAB71BC6}"/>
              </a:ext>
            </a:extLst>
          </p:cNvPr>
          <p:cNvSpPr/>
          <p:nvPr/>
        </p:nvSpPr>
        <p:spPr>
          <a:xfrm>
            <a:off x="8172384" y="1786178"/>
            <a:ext cx="3901440" cy="4827982"/>
          </a:xfrm>
          <a:prstGeom prst="roundRect">
            <a:avLst>
              <a:gd name="adj" fmla="val 5729"/>
            </a:avLst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33405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  <a:p>
            <a:pPr algn="ct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60CE1CE-9990-1F16-230B-5274A08FC1DE}"/>
              </a:ext>
            </a:extLst>
          </p:cNvPr>
          <p:cNvSpPr/>
          <p:nvPr/>
        </p:nvSpPr>
        <p:spPr>
          <a:xfrm>
            <a:off x="8172385" y="1963456"/>
            <a:ext cx="3901439" cy="715581"/>
          </a:xfrm>
          <a:prstGeom prst="roundRect">
            <a:avLst/>
          </a:prstGeom>
          <a:solidFill>
            <a:srgbClr val="334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Services - BDD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A68F4ED-6C71-4870-7B58-7058966C8708}"/>
              </a:ext>
            </a:extLst>
          </p:cNvPr>
          <p:cNvCxnSpPr>
            <a:cxnSpLocks/>
          </p:cNvCxnSpPr>
          <p:nvPr/>
        </p:nvCxnSpPr>
        <p:spPr>
          <a:xfrm>
            <a:off x="7549348" y="2374516"/>
            <a:ext cx="1091580" cy="0"/>
          </a:xfrm>
          <a:prstGeom prst="straightConnector1">
            <a:avLst/>
          </a:prstGeom>
          <a:ln w="101600">
            <a:solidFill>
              <a:srgbClr val="C244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Image 41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EFB76D74-A348-912A-4477-BC981F692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383" y="3046522"/>
            <a:ext cx="3771177" cy="951564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5368B835-CFE6-A5B9-021E-30A9FA923E97}"/>
              </a:ext>
            </a:extLst>
          </p:cNvPr>
          <p:cNvSpPr txBox="1"/>
          <p:nvPr/>
        </p:nvSpPr>
        <p:spPr>
          <a:xfrm>
            <a:off x="8153398" y="5299579"/>
            <a:ext cx="3901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4400" b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fr-FR" sz="2400" b="0" dirty="0"/>
              <a:t>Fonctions et services</a:t>
            </a:r>
          </a:p>
          <a:p>
            <a:pPr algn="ctr"/>
            <a:r>
              <a:rPr lang="fr-FR" sz="2400" b="0" dirty="0"/>
              <a:t>Côté serveur</a:t>
            </a:r>
          </a:p>
          <a:p>
            <a:pPr algn="ctr"/>
            <a:r>
              <a:rPr lang="fr-FR" sz="2400" b="0" dirty="0" err="1"/>
              <a:t>BackEnd</a:t>
            </a:r>
            <a:endParaRPr lang="fr-FR" sz="2400" b="0" dirty="0"/>
          </a:p>
        </p:txBody>
      </p:sp>
      <p:pic>
        <p:nvPicPr>
          <p:cNvPr id="55" name="Image 54" descr="Une image contenant Graphique, graphism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BF01BC6-4616-187A-BB3C-EEF648B1A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617" y="3764688"/>
            <a:ext cx="2642973" cy="1653395"/>
          </a:xfrm>
          <a:prstGeom prst="rect">
            <a:avLst/>
          </a:prstGeom>
        </p:spPr>
      </p:pic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0C558C22-0FC0-B91B-3A9B-8E1A08317152}"/>
              </a:ext>
            </a:extLst>
          </p:cNvPr>
          <p:cNvSpPr/>
          <p:nvPr/>
        </p:nvSpPr>
        <p:spPr>
          <a:xfrm>
            <a:off x="-5800389" y="1753496"/>
            <a:ext cx="5499731" cy="4867731"/>
          </a:xfrm>
          <a:prstGeom prst="roundRect">
            <a:avLst>
              <a:gd name="adj" fmla="val 4525"/>
            </a:avLst>
          </a:prstGeom>
          <a:solidFill>
            <a:srgbClr val="EDE7E3"/>
          </a:solidFill>
          <a:ln>
            <a:solidFill>
              <a:srgbClr val="0E1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>
              <a:solidFill>
                <a:srgbClr val="0E1820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2E87D61F-EEB9-8246-5BFF-E155E39E1374}"/>
              </a:ext>
            </a:extLst>
          </p:cNvPr>
          <p:cNvSpPr txBox="1"/>
          <p:nvPr/>
        </p:nvSpPr>
        <p:spPr>
          <a:xfrm>
            <a:off x="-5655874" y="1972730"/>
            <a:ext cx="5355218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mon_projet</a:t>
            </a:r>
            <a:r>
              <a:rPr lang="fr-FR" dirty="0"/>
              <a:t>/</a:t>
            </a:r>
          </a:p>
          <a:p>
            <a:r>
              <a:rPr lang="fr-FR" dirty="0"/>
              <a:t>	run.py</a:t>
            </a:r>
          </a:p>
          <a:p>
            <a:r>
              <a:rPr lang="fr-FR" dirty="0"/>
              <a:t>	requirements.txt</a:t>
            </a:r>
          </a:p>
          <a:p>
            <a:r>
              <a:rPr lang="fr-FR" dirty="0"/>
              <a:t>	app/</a:t>
            </a:r>
          </a:p>
          <a:p>
            <a:r>
              <a:rPr lang="fr-FR" dirty="0"/>
              <a:t>		__init__.py</a:t>
            </a:r>
          </a:p>
          <a:p>
            <a:r>
              <a:rPr lang="fr-FR" dirty="0"/>
              <a:t>		routes.py</a:t>
            </a:r>
          </a:p>
          <a:p>
            <a:r>
              <a:rPr lang="fr-FR" dirty="0"/>
              <a:t>		services/</a:t>
            </a:r>
          </a:p>
          <a:p>
            <a:r>
              <a:rPr lang="fr-FR" dirty="0"/>
              <a:t>			user_service.py</a:t>
            </a:r>
          </a:p>
          <a:p>
            <a:r>
              <a:rPr lang="fr-FR" dirty="0"/>
              <a:t>		</a:t>
            </a:r>
            <a:r>
              <a:rPr lang="fr-FR" dirty="0" err="1"/>
              <a:t>templates</a:t>
            </a:r>
            <a:r>
              <a:rPr lang="fr-FR" dirty="0"/>
              <a:t>/</a:t>
            </a:r>
          </a:p>
          <a:p>
            <a:r>
              <a:rPr lang="fr-FR" dirty="0"/>
              <a:t>			base.html</a:t>
            </a:r>
          </a:p>
          <a:p>
            <a:r>
              <a:rPr lang="fr-FR" dirty="0"/>
              <a:t>		</a:t>
            </a:r>
            <a:r>
              <a:rPr lang="fr-FR" dirty="0" err="1"/>
              <a:t>static</a:t>
            </a:r>
            <a:r>
              <a:rPr lang="fr-FR" dirty="0"/>
              <a:t>/</a:t>
            </a:r>
          </a:p>
          <a:p>
            <a:r>
              <a:rPr lang="fr-FR" dirty="0"/>
              <a:t>			</a:t>
            </a:r>
            <a:r>
              <a:rPr lang="fr-FR" dirty="0" err="1"/>
              <a:t>css</a:t>
            </a:r>
            <a:r>
              <a:rPr lang="fr-FR" dirty="0"/>
              <a:t>/</a:t>
            </a:r>
          </a:p>
          <a:p>
            <a:r>
              <a:rPr lang="fr-FR" dirty="0"/>
              <a:t>			images/</a:t>
            </a:r>
          </a:p>
          <a:p>
            <a:r>
              <a:rPr lang="fr-FR" dirty="0"/>
              <a:t>			</a:t>
            </a:r>
            <a:r>
              <a:rPr lang="fr-FR" dirty="0" err="1"/>
              <a:t>js</a:t>
            </a:r>
            <a:r>
              <a:rPr lang="fr-FR" dirty="0"/>
              <a:t>/</a:t>
            </a:r>
          </a:p>
          <a:p>
            <a:r>
              <a:rPr lang="fr-FR" dirty="0"/>
              <a:t>		data/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9A62197-130F-8733-52D1-115B423D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817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1ACA-7EE6-514A-C164-1FB54752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7D9D50A4-29E3-7826-51DC-11E7DF8F4BCF}"/>
              </a:ext>
            </a:extLst>
          </p:cNvPr>
          <p:cNvSpPr txBox="1"/>
          <p:nvPr/>
        </p:nvSpPr>
        <p:spPr>
          <a:xfrm>
            <a:off x="355449" y="2927209"/>
            <a:ext cx="1153841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Principal ORM utilisé avec Flask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Permet de définir des modèles en 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Supporte plusieurs bases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2"/>
              </a:rPr>
              <a:t>SQLALCHEMY</a:t>
            </a:r>
            <a:endParaRPr lang="fr-FR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B1B229-2658-BDD7-598A-87200CD647F2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35E65FF-9682-90AE-021D-A6C806774F33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DC9C2A-5F27-E2EE-7A19-896E5779446C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EE59B7-148D-84CE-E4D4-C382EA8E2CAE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05569EC-1FBA-2E2D-13CB-12FA1ABBA7D3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18E64FC1-C3C0-2F22-A240-166F6666B7D5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1A6CC2DC-D478-AB31-DF3A-500EBDF7042F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FAD154F2-ED05-1F14-BF6A-ABD55074AC29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A621EB7A-788A-B69B-02C2-C3301B868455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3C75FE63-1123-B2B5-0E3F-E5CF99398297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6E5E054D-CB23-EB74-E696-785DDD163830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B96FBA16-A756-55C0-DF0D-C92D57239A66}"/>
              </a:ext>
            </a:extLst>
          </p:cNvPr>
          <p:cNvGrpSpPr/>
          <p:nvPr/>
        </p:nvGrpSpPr>
        <p:grpSpPr>
          <a:xfrm>
            <a:off x="8749077" y="414129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A388E21A-76CC-DA47-F245-9F314EE881D1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BB78C452-9C39-26B4-6F73-32C7E0C794A4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9FB0EEB6-93C5-517B-C6C6-1E0968DE22AF}"/>
              </a:ext>
            </a:extLst>
          </p:cNvPr>
          <p:cNvGrpSpPr/>
          <p:nvPr/>
        </p:nvGrpSpPr>
        <p:grpSpPr>
          <a:xfrm>
            <a:off x="8749077" y="725264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B67BA40D-4D9C-E334-DFFD-FBF772D1ACF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E2D3F77E-9915-506A-19B9-F0DD7AD8CC2A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0D42BC5F-D997-F04B-5622-B929BDD69CE0}"/>
              </a:ext>
            </a:extLst>
          </p:cNvPr>
          <p:cNvGrpSpPr/>
          <p:nvPr/>
        </p:nvGrpSpPr>
        <p:grpSpPr>
          <a:xfrm>
            <a:off x="8749077" y="1029252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270FD567-2034-8BC4-5DF3-0CAF058938C9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648B2B8B-7E7F-7C1A-1F80-31C824E2650C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443531DB-81C7-9CAA-C046-F10095FF0259}"/>
              </a:ext>
            </a:extLst>
          </p:cNvPr>
          <p:cNvGrpSpPr/>
          <p:nvPr/>
        </p:nvGrpSpPr>
        <p:grpSpPr>
          <a:xfrm>
            <a:off x="5882641" y="1835251"/>
            <a:ext cx="5982568" cy="1272505"/>
            <a:chOff x="1661160" y="3886200"/>
            <a:chExt cx="5859921" cy="18772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DDF167-B137-39C5-5A5A-87A2F191B8FD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2443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ORM : Object </a:t>
              </a:r>
              <a:r>
                <a:rPr lang="fr-FR" sz="2000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Relational</a:t>
              </a:r>
              <a:r>
                <a:rPr lang="fr-FR" sz="20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Mapping =</a:t>
              </a:r>
            </a:p>
            <a:p>
              <a:pPr algn="ctr"/>
              <a:r>
                <a:rPr lang="fr-FR" sz="2000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Correspondance objets Python &lt;=&gt; table SQL</a:t>
              </a: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6C64F656-5D49-DD37-4B98-F95ACF3CE636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244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5FB63631-C4A6-BBFA-0873-C7A5CFA6D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82" y="1669897"/>
            <a:ext cx="4821323" cy="1216543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1DA5556-9615-E790-E7B0-008046E50868}"/>
              </a:ext>
            </a:extLst>
          </p:cNvPr>
          <p:cNvGrpSpPr/>
          <p:nvPr/>
        </p:nvGrpSpPr>
        <p:grpSpPr>
          <a:xfrm>
            <a:off x="4962759" y="4523390"/>
            <a:ext cx="6786195" cy="1683297"/>
            <a:chOff x="1661160" y="3886200"/>
            <a:chExt cx="5859921" cy="187720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51878F-2289-7AA1-0E4E-55977D58C9F2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425"/>
                </a:lnSpc>
                <a:buNone/>
              </a:pP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class User(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db.Model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):</a:t>
              </a:r>
            </a:p>
            <a:p>
              <a:pPr>
                <a:lnSpc>
                  <a:spcPts val="1425"/>
                </a:lnSpc>
                <a:buNone/>
              </a:pPr>
              <a:endParaRPr lang="fr-FR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    id = 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db.Column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db.Integer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primary_key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=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True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endParaRPr lang="fr-FR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    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name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db.Column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db.String</a:t>
              </a:r>
              <a:r>
                <a:rPr lang="fr-FR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(100))</a:t>
              </a:r>
            </a:p>
          </p:txBody>
        </p: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CCC02D6B-A501-0233-A41D-41E809EAB3A3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1C41B3D7-6FD1-8500-2665-388D9D93F377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SQLAlchemy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: qu’est-ce que c’est ?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9AD905E-71C5-34D4-3E0C-3EF568B39702}"/>
              </a:ext>
            </a:extLst>
          </p:cNvPr>
          <p:cNvSpPr txBox="1"/>
          <p:nvPr/>
        </p:nvSpPr>
        <p:spPr>
          <a:xfrm>
            <a:off x="4962759" y="4035961"/>
            <a:ext cx="493637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Exemple de modèle :</a:t>
            </a:r>
            <a:endParaRPr lang="fr-FR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29F9F7-DA4C-987C-901A-93E86969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10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234E-251C-8344-F295-7ED133DB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1F11E6E-F91B-8783-7B39-7AB236BDEC7A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1C92D19-3D0E-E9DF-7B17-FF30A59CBB13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28D818-D0AF-BD63-0297-8FD3250E76C2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33AE43-BADD-2A12-F971-4C6A35716CCB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D17A1C30-A529-FC52-0502-796FA9BF3C83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76BA900-6310-6DA9-1F68-F8289F34B80D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43DD89D1-C2BF-2C88-B727-4AE8EDCAAD94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32B41AE-E5C1-6047-C6BD-D12AEF3F066B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0095267F-5379-F97F-28FD-C536D64A77A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5FE08099-D2CF-19F4-0EB5-562A3DDA7702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1252176C-0B97-6F9F-67A3-341373079509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EB31BD9C-37BC-8141-046E-DCD1F6D495E1}"/>
              </a:ext>
            </a:extLst>
          </p:cNvPr>
          <p:cNvGrpSpPr/>
          <p:nvPr/>
        </p:nvGrpSpPr>
        <p:grpSpPr>
          <a:xfrm>
            <a:off x="8749077" y="414129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935808E4-7886-F359-0895-B8E4DF649998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E7989FDA-6552-415D-53F7-E707C32D0CF0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5D16C14D-0D12-6C27-8A63-B886B91A225F}"/>
              </a:ext>
            </a:extLst>
          </p:cNvPr>
          <p:cNvGrpSpPr/>
          <p:nvPr/>
        </p:nvGrpSpPr>
        <p:grpSpPr>
          <a:xfrm>
            <a:off x="8749077" y="725264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0177B04A-D6BD-4694-9F3F-8D2A5FD63C1C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AF950448-2CFD-038F-888B-25030941AC75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49751D44-4E24-4926-2FA2-9A4422A2977B}"/>
              </a:ext>
            </a:extLst>
          </p:cNvPr>
          <p:cNvGrpSpPr/>
          <p:nvPr/>
        </p:nvGrpSpPr>
        <p:grpSpPr>
          <a:xfrm>
            <a:off x="8749077" y="1029252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033051C7-3444-E29E-FA63-B37E89639BA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59619BB4-850A-2A35-F658-33BBD440CF6D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CB7311E0-DC4E-C1C4-BE4A-527244661884}"/>
              </a:ext>
            </a:extLst>
          </p:cNvPr>
          <p:cNvSpPr txBox="1"/>
          <p:nvPr/>
        </p:nvSpPr>
        <p:spPr>
          <a:xfrm>
            <a:off x="891250" y="1162101"/>
            <a:ext cx="7185949" cy="83099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Créer sa base de données SQLite en utilisant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SQLAlchemy</a:t>
            </a:r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5FB259BC-0CAF-2457-1089-C4AD9B1800BF}"/>
              </a:ext>
            </a:extLst>
          </p:cNvPr>
          <p:cNvGrpSpPr/>
          <p:nvPr/>
        </p:nvGrpSpPr>
        <p:grpSpPr>
          <a:xfrm>
            <a:off x="312130" y="2593262"/>
            <a:ext cx="7185949" cy="3258898"/>
            <a:chOff x="1661160" y="3886200"/>
            <a:chExt cx="5859921" cy="18772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F28FC8-4F30-F8A6-4B8A-C087595E6E88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sqlalchemy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import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create_engine</a:t>
              </a: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buNone/>
              </a:pP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sqlalchemy.orm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import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declarative_base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sessionmaker</a:t>
              </a: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buNone/>
              </a:pP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 Définir le moteur SQLite</a:t>
              </a: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engine =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create_engine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("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sqlite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:///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users.db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")</a:t>
              </a:r>
            </a:p>
            <a:p>
              <a:pPr>
                <a:buNone/>
              </a:pP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 Définir une base déclarative</a:t>
              </a: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Base =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declarative_base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>
                <a:buNone/>
              </a:pP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# Créer une session pour communiquer avec la BDD</a:t>
              </a:r>
            </a:p>
            <a:p>
              <a:pPr>
                <a:buNone/>
              </a:pP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SessionLocal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sessionmaker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bind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=engine)</a:t>
              </a:r>
            </a:p>
            <a:p>
              <a:pPr>
                <a:buNone/>
              </a:pP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 = </a:t>
              </a: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SessionLocal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7EBF5B74-410D-01D5-F87B-3599F222B5B3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258BDD4C-E385-46AB-D557-FEE0AA61DE57}"/>
              </a:ext>
            </a:extLst>
          </p:cNvPr>
          <p:cNvSpPr txBox="1"/>
          <p:nvPr/>
        </p:nvSpPr>
        <p:spPr>
          <a:xfrm>
            <a:off x="312129" y="2086474"/>
            <a:ext cx="691757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Création de la base de données « </a:t>
            </a:r>
            <a:r>
              <a:rPr lang="fr-FR" dirty="0" err="1"/>
              <a:t>users.db</a:t>
            </a:r>
            <a:r>
              <a:rPr lang="fr-FR" dirty="0"/>
              <a:t> »</a:t>
            </a:r>
            <a:endParaRPr lang="fr-FR" sz="2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6EC800-249C-DE1F-D3FA-3A9505656385}"/>
              </a:ext>
            </a:extLst>
          </p:cNvPr>
          <p:cNvSpPr txBox="1"/>
          <p:nvPr/>
        </p:nvSpPr>
        <p:spPr>
          <a:xfrm>
            <a:off x="7662056" y="2086474"/>
            <a:ext cx="691757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Création le modèle « </a:t>
            </a:r>
            <a:r>
              <a:rPr lang="fr-FR" dirty="0" err="1"/>
              <a:t>users</a:t>
            </a:r>
            <a:r>
              <a:rPr lang="fr-FR" dirty="0"/>
              <a:t> »</a:t>
            </a:r>
            <a:endParaRPr lang="fr-FR" sz="2000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8338672-D191-17B0-9984-34BB0B740688}"/>
              </a:ext>
            </a:extLst>
          </p:cNvPr>
          <p:cNvGrpSpPr/>
          <p:nvPr/>
        </p:nvGrpSpPr>
        <p:grpSpPr>
          <a:xfrm>
            <a:off x="7707776" y="2593263"/>
            <a:ext cx="4347070" cy="3258898"/>
            <a:chOff x="7707776" y="2593262"/>
            <a:chExt cx="4347070" cy="3864713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9936052B-8F1A-5C05-7EDA-8CAF646AE4C0}"/>
                </a:ext>
              </a:extLst>
            </p:cNvPr>
            <p:cNvGrpSpPr/>
            <p:nvPr/>
          </p:nvGrpSpPr>
          <p:grpSpPr>
            <a:xfrm>
              <a:off x="7707776" y="2593262"/>
              <a:ext cx="4347070" cy="3864713"/>
              <a:chOff x="1661160" y="3886200"/>
              <a:chExt cx="5859921" cy="187720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DBA42B3-A256-5B07-F999-A459EBBB5722}"/>
                  </a:ext>
                </a:extLst>
              </p:cNvPr>
              <p:cNvSpPr/>
              <p:nvPr/>
            </p:nvSpPr>
            <p:spPr>
              <a:xfrm>
                <a:off x="1661160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from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sqlalchemy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Integer, String,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DateTime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ForeignKey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UniqueConstraint</a:t>
                </a:r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class User(Base):</a:t>
                </a:r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__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tablename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__ = "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users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id =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(Integer,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primary_key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username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(String(50),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nullable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=False, unique=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b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email =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(String(120),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nullable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=False, unique=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D34D969B-3FCE-3243-C5CF-25CBC9768FE7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4AD78641-76DE-2A7D-70B9-73D53837021A}"/>
                </a:ext>
              </a:extLst>
            </p:cNvPr>
            <p:cNvCxnSpPr>
              <a:cxnSpLocks/>
            </p:cNvCxnSpPr>
            <p:nvPr/>
          </p:nvCxnSpPr>
          <p:spPr>
            <a:xfrm>
              <a:off x="7707776" y="2593262"/>
              <a:ext cx="0" cy="3864713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D05A2B-C9EE-F661-6F3D-0254DAA0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78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E5C8-C243-DFB9-A6B7-5EA36781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99CEC06-2E00-3FFE-B355-A087B3EC3E79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578B6AE-97E4-8433-0B8B-B7203C59AEAD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6BB8F2-6404-233D-CF9F-739773AB2526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757859-F301-C140-F2F0-DBF3065AB9CA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1157E92A-8FDC-7868-65C6-B4C96CCA3B2D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202F852D-55C0-729D-B469-E5E40CF5D33D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A20587D0-DD56-6140-73BC-B5905A789BFD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C9027EEA-F410-A2C3-5229-1BDFB20A0EF3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1F0724-2D8A-7AF2-6DED-58FAC95A4B3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6C92408F-6F80-2FF6-196B-7BFAA854F7E1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9857738B-B8A8-6EAD-71F8-EBAC609F8326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7DA210A7-879C-D3DB-37CD-EB5D54C1618E}"/>
              </a:ext>
            </a:extLst>
          </p:cNvPr>
          <p:cNvGrpSpPr/>
          <p:nvPr/>
        </p:nvGrpSpPr>
        <p:grpSpPr>
          <a:xfrm>
            <a:off x="8749077" y="414129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7386F871-EE80-A8A3-B896-21B441D7F86F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0C8B783-444E-3A8D-EBFA-455B0929564E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0CCC5BC1-3FA0-A95C-B7F5-1C3BAD1C559F}"/>
              </a:ext>
            </a:extLst>
          </p:cNvPr>
          <p:cNvGrpSpPr/>
          <p:nvPr/>
        </p:nvGrpSpPr>
        <p:grpSpPr>
          <a:xfrm>
            <a:off x="8749077" y="725264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16364122-CD27-1A31-1694-7C870199E811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7E9A99A6-9A85-F488-6783-CBC93F71DAEE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264C0E5B-76AC-F98F-7F99-D970BA7B11A4}"/>
              </a:ext>
            </a:extLst>
          </p:cNvPr>
          <p:cNvGrpSpPr/>
          <p:nvPr/>
        </p:nvGrpSpPr>
        <p:grpSpPr>
          <a:xfrm>
            <a:off x="8749077" y="1029252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9C0C3FA6-0EFF-57C1-BD0D-5AFB65BF5F07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6C801606-4747-DD0D-39AB-508CE6846F7F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6E6C11DF-6973-3BBB-66EC-291CED8ECE36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Communication BDD &lt;=&gt; modèles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5DAF873-02A9-4835-1AC4-51C2BF2AE698}"/>
              </a:ext>
            </a:extLst>
          </p:cNvPr>
          <p:cNvCxnSpPr>
            <a:cxnSpLocks/>
          </p:cNvCxnSpPr>
          <p:nvPr/>
        </p:nvCxnSpPr>
        <p:spPr>
          <a:xfrm>
            <a:off x="6096000" y="1898248"/>
            <a:ext cx="0" cy="4734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D244114-E842-5C39-0381-D05C9F38B7A3}"/>
              </a:ext>
            </a:extLst>
          </p:cNvPr>
          <p:cNvCxnSpPr/>
          <p:nvPr/>
        </p:nvCxnSpPr>
        <p:spPr>
          <a:xfrm>
            <a:off x="513723" y="4103226"/>
            <a:ext cx="111645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632B0434-C70C-2C75-F9C0-9649C87A8689}"/>
              </a:ext>
            </a:extLst>
          </p:cNvPr>
          <p:cNvGrpSpPr/>
          <p:nvPr/>
        </p:nvGrpSpPr>
        <p:grpSpPr>
          <a:xfrm>
            <a:off x="312131" y="2420541"/>
            <a:ext cx="5590958" cy="1555011"/>
            <a:chOff x="1661160" y="3886200"/>
            <a:chExt cx="5859921" cy="187720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DC09AC6-9F86-F72F-D1AC-DD1C7CA82123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fr-FR" sz="160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new_user</a:t>
              </a: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= User(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sz="160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username</a:t>
              </a: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="Bob",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  <a:hlinkClick r:id="rId2"/>
                </a:rPr>
                <a:t>    email=bob@mynameisbob.com</a:t>
              </a: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buNone/>
              </a:pPr>
              <a:r>
                <a:rPr lang="fr-FR" sz="160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session.add</a:t>
              </a: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fr-FR" sz="160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new_user</a:t>
              </a:r>
              <a:r>
                <a:rPr lang="fr-FR" sz="160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buNone/>
              </a:pPr>
              <a:r>
                <a:rPr lang="fr-FR" sz="1600" b="1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session.commit</a:t>
              </a:r>
              <a:r>
                <a:rPr lang="fr-FR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134B3650-7E1B-57ED-6058-01F18E33751A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35813B84-96B1-EBCF-C0A8-88BB5E0439A4}"/>
              </a:ext>
            </a:extLst>
          </p:cNvPr>
          <p:cNvSpPr txBox="1"/>
          <p:nvPr/>
        </p:nvSpPr>
        <p:spPr>
          <a:xfrm>
            <a:off x="312130" y="1922861"/>
            <a:ext cx="5590958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Ajouter un individu</a:t>
            </a:r>
            <a:endParaRPr lang="fr-FR" sz="2000" dirty="0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D0998E0B-2032-2BD6-E98D-D92267D245A4}"/>
              </a:ext>
            </a:extLst>
          </p:cNvPr>
          <p:cNvGrpSpPr/>
          <p:nvPr/>
        </p:nvGrpSpPr>
        <p:grpSpPr>
          <a:xfrm>
            <a:off x="6288911" y="2423732"/>
            <a:ext cx="5590958" cy="1551820"/>
            <a:chOff x="1661160" y="3886200"/>
            <a:chExt cx="5859921" cy="187720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1A92F2-A818-260A-CCE3-BCC3B8BC9A51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fr-FR" sz="1600" b="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users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600" b="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session.query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(User).all()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filtrer :</a:t>
              </a:r>
            </a:p>
            <a:p>
              <a:pPr>
                <a:buNone/>
              </a:pPr>
              <a:r>
                <a:rPr lang="fr-FR" sz="1600" dirty="0" err="1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User_bob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fr-FR" sz="1600" b="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session.query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(User).</a:t>
              </a:r>
              <a:r>
                <a:rPr lang="fr-FR" sz="1600" b="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filter_by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</a:p>
            <a:p>
              <a:pPr>
                <a:buNone/>
              </a:pP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sz="1600" b="0" dirty="0" err="1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username</a:t>
              </a: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="Bob"</a:t>
              </a:r>
            </a:p>
            <a:p>
              <a:pPr>
                <a:buNone/>
              </a:pPr>
              <a:r>
                <a:rPr lang="fr-FR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).first()</a:t>
              </a:r>
            </a:p>
          </p:txBody>
        </p: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611F2686-DF68-8D3E-9C63-45F65933D41F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EB7CC28F-8EF1-5D9A-E9C6-8EE84BF5014E}"/>
              </a:ext>
            </a:extLst>
          </p:cNvPr>
          <p:cNvSpPr txBox="1"/>
          <p:nvPr/>
        </p:nvSpPr>
        <p:spPr>
          <a:xfrm>
            <a:off x="6288910" y="1926052"/>
            <a:ext cx="5590958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Lire les individus</a:t>
            </a:r>
            <a:endParaRPr lang="fr-FR" sz="2000" dirty="0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F9D133F-E342-2AC3-C057-E43AB0E0F7FB}"/>
              </a:ext>
            </a:extLst>
          </p:cNvPr>
          <p:cNvGrpSpPr/>
          <p:nvPr/>
        </p:nvGrpSpPr>
        <p:grpSpPr>
          <a:xfrm>
            <a:off x="312130" y="4728581"/>
            <a:ext cx="5590958" cy="1388207"/>
            <a:chOff x="1661160" y="3886200"/>
            <a:chExt cx="5859921" cy="187720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B278545-F63E-5245-616A-DED4A64D5CAC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fr-FR" sz="1600" dirty="0" err="1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User_bob.email</a:t>
              </a:r>
              <a:r>
                <a:rPr lang="fr-FR" sz="1600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"bob@gmail.com"</a:t>
              </a:r>
            </a:p>
            <a:p>
              <a:pPr>
                <a:buNone/>
              </a:pPr>
              <a:r>
                <a:rPr lang="fr-FR" sz="1600" b="1" dirty="0" err="1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session.commit</a:t>
              </a:r>
              <a:r>
                <a:rPr lang="fr-FR" sz="1600" b="1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C9AACFFA-1971-702C-7E65-2E88556B492A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ZoneTexte 52">
            <a:extLst>
              <a:ext uri="{FF2B5EF4-FFF2-40B4-BE49-F238E27FC236}">
                <a16:creationId xmlns:a16="http://schemas.microsoft.com/office/drawing/2014/main" id="{2D8B9320-C641-B4BD-A683-09A220DE0335}"/>
              </a:ext>
            </a:extLst>
          </p:cNvPr>
          <p:cNvSpPr txBox="1"/>
          <p:nvPr/>
        </p:nvSpPr>
        <p:spPr>
          <a:xfrm>
            <a:off x="312129" y="4221794"/>
            <a:ext cx="5590958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Modifier un individu</a:t>
            </a:r>
            <a:endParaRPr lang="fr-FR" sz="2000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C9811159-6591-5176-41BD-5BF6E7CF4FD5}"/>
              </a:ext>
            </a:extLst>
          </p:cNvPr>
          <p:cNvGrpSpPr/>
          <p:nvPr/>
        </p:nvGrpSpPr>
        <p:grpSpPr>
          <a:xfrm>
            <a:off x="6288909" y="4728581"/>
            <a:ext cx="5590958" cy="1388207"/>
            <a:chOff x="1661160" y="3886200"/>
            <a:chExt cx="5859921" cy="187720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E48364A-F4D1-3B3C-C78E-36E54F80D04F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it-IT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session.delete(</a:t>
              </a:r>
              <a:r>
                <a:rPr lang="fr-FR" sz="1600" dirty="0" err="1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User_bob</a:t>
              </a:r>
              <a:r>
                <a:rPr lang="it-IT" sz="1600" b="0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buNone/>
              </a:pPr>
              <a:r>
                <a:rPr lang="it-IT" sz="1600" b="1" dirty="0">
                  <a:solidFill>
                    <a:srgbClr val="0E182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session.commit()</a:t>
              </a:r>
              <a:endParaRPr lang="fr-FR" sz="1600" b="1" dirty="0">
                <a:solidFill>
                  <a:srgbClr val="0E18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D5C5BF20-DF55-E650-423C-DF9154A0BB57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ZoneTexte 56">
            <a:extLst>
              <a:ext uri="{FF2B5EF4-FFF2-40B4-BE49-F238E27FC236}">
                <a16:creationId xmlns:a16="http://schemas.microsoft.com/office/drawing/2014/main" id="{00628020-D7CE-916E-CC5E-D133BC28E522}"/>
              </a:ext>
            </a:extLst>
          </p:cNvPr>
          <p:cNvSpPr txBox="1"/>
          <p:nvPr/>
        </p:nvSpPr>
        <p:spPr>
          <a:xfrm>
            <a:off x="6288909" y="4189430"/>
            <a:ext cx="5590958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Supprimer un individu</a:t>
            </a:r>
            <a:endParaRPr lang="fr-FR" sz="2000" dirty="0"/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B9276C3-727A-E1CB-81F2-C478CCE0E821}"/>
              </a:ext>
            </a:extLst>
          </p:cNvPr>
          <p:cNvCxnSpPr>
            <a:cxnSpLocks/>
          </p:cNvCxnSpPr>
          <p:nvPr/>
        </p:nvCxnSpPr>
        <p:spPr>
          <a:xfrm>
            <a:off x="7548008" y="7056120"/>
            <a:ext cx="0" cy="460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8D8BFB-4B4A-AB42-02D5-203883D1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52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4662-DD8A-05DB-E598-B23DF523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1507C1C-B314-6899-238B-17C3DCA6A3FA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BCED238-41CB-B08F-F928-E83A801AC67A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Base de données et 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82A7C7-E95D-5508-EA70-874F35E934B3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A241D-9393-3AAA-E204-AF1E11A3FC39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56DB76ED-5370-CD14-A6D5-ECDFCB2C918A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47FEC96A-9D53-027E-D741-B2591B2F048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433D8E29-3A2A-CC73-FA74-90FCB62DE843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64FA9EF8-E5F8-6110-C551-80B831726A4E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8A3CCFB7-9FD2-9DF3-9D94-95310D4409DE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4E866F72-2F8D-5F8D-B548-15218D6BD8DD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2F20FA9-806B-C5A4-ABCA-2FEF651B9C8F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41414EBD-7DEF-6A4E-CB7A-07684604216C}"/>
              </a:ext>
            </a:extLst>
          </p:cNvPr>
          <p:cNvGrpSpPr/>
          <p:nvPr/>
        </p:nvGrpSpPr>
        <p:grpSpPr>
          <a:xfrm>
            <a:off x="8749077" y="414129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9E9E4A2E-8D40-6DBD-3D76-E966470AFBAD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F91C9BF-992A-22EA-5C40-81A43C31741D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E198E419-114E-37BD-5FE2-7F8748F70B5E}"/>
              </a:ext>
            </a:extLst>
          </p:cNvPr>
          <p:cNvGrpSpPr/>
          <p:nvPr/>
        </p:nvGrpSpPr>
        <p:grpSpPr>
          <a:xfrm>
            <a:off x="8749077" y="725264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9493CC98-A0D9-CE9E-0872-ED86D860472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C3D8F77E-363A-C3F4-F9FF-372DE04A802A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45A6F892-DF7F-1D01-37CD-0149C8C3B13C}"/>
              </a:ext>
            </a:extLst>
          </p:cNvPr>
          <p:cNvGrpSpPr/>
          <p:nvPr/>
        </p:nvGrpSpPr>
        <p:grpSpPr>
          <a:xfrm>
            <a:off x="8749077" y="1029252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316E1071-D526-E026-200A-D9E3622BC19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9879BCB-1AE3-823D-0DD0-52116C8A2AE2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AD2DAB07-9419-F6BA-2F4E-DD7053D78987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Contraintes et bonnes pratiques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680238-75DA-396A-FE48-F54230671393}"/>
              </a:ext>
            </a:extLst>
          </p:cNvPr>
          <p:cNvSpPr txBox="1"/>
          <p:nvPr/>
        </p:nvSpPr>
        <p:spPr>
          <a:xfrm>
            <a:off x="415989" y="1919943"/>
            <a:ext cx="583208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fr-FR"/>
            </a:defPPr>
            <a:lvl1pPr>
              <a:defRPr sz="240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fr-FR" dirty="0"/>
              <a:t>Contrainte dans la création de modèles</a:t>
            </a:r>
            <a:endParaRPr lang="fr-FR" sz="20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BBE2F16-6ECC-2F9B-E7DE-FDABF866642E}"/>
              </a:ext>
            </a:extLst>
          </p:cNvPr>
          <p:cNvGrpSpPr/>
          <p:nvPr/>
        </p:nvGrpSpPr>
        <p:grpSpPr>
          <a:xfrm>
            <a:off x="415989" y="2428801"/>
            <a:ext cx="6806609" cy="2592729"/>
            <a:chOff x="7707776" y="2593262"/>
            <a:chExt cx="4347070" cy="3864713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D1A0EC71-DEA5-A912-1961-56B1A8445B6A}"/>
                </a:ext>
              </a:extLst>
            </p:cNvPr>
            <p:cNvGrpSpPr/>
            <p:nvPr/>
          </p:nvGrpSpPr>
          <p:grpSpPr>
            <a:xfrm>
              <a:off x="7707776" y="2593262"/>
              <a:ext cx="4347070" cy="3864713"/>
              <a:chOff x="1661160" y="3886200"/>
              <a:chExt cx="5859922" cy="187720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048042-9BC5-5572-46C2-1C2641259D0C}"/>
                  </a:ext>
                </a:extLst>
              </p:cNvPr>
              <p:cNvSpPr/>
              <p:nvPr/>
            </p:nvSpPr>
            <p:spPr>
              <a:xfrm>
                <a:off x="1661161" y="3886200"/>
                <a:ext cx="5859921" cy="1877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class User(Base):</a:t>
                </a:r>
              </a:p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__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tablename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__ = "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users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</a:p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</a:p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id =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(Integer,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primary_key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endParaRPr lang="fr-FR" sz="1400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username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(String(50),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nullable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=False, unique=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endParaRPr lang="fr-FR" sz="1400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email =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Column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(String(120), 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nullable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=False, unique=</a:t>
                </a:r>
                <a:r>
                  <a:rPr lang="fr-FR" sz="1400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endParaRPr lang="fr-FR" sz="1400" dirty="0">
                  <a:solidFill>
                    <a:srgbClr val="0E182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__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table_args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__ = (</a:t>
                </a:r>
              </a:p>
              <a:p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UniqueConstraint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('email', 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name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='</a:t>
                </a:r>
                <a:r>
                  <a:rPr lang="fr-FR" sz="1400" b="1" dirty="0" err="1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uq_user_email</a:t>
                </a:r>
                <a:r>
                  <a:rPr lang="fr-FR" sz="1400" b="1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'), </a:t>
                </a:r>
                <a:r>
                  <a:rPr lang="fr-FR" sz="1400" dirty="0">
                    <a:solidFill>
                      <a:srgbClr val="0E182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12" name="Connecteur droit 11">
                <a:extLst>
                  <a:ext uri="{FF2B5EF4-FFF2-40B4-BE49-F238E27FC236}">
                    <a16:creationId xmlns:a16="http://schemas.microsoft.com/office/drawing/2014/main" id="{E8E59004-74CF-D7DE-D5B7-F45CCA41B703}"/>
                  </a:ext>
                </a:extLst>
              </p:cNvPr>
              <p:cNvCxnSpPr/>
              <p:nvPr/>
            </p:nvCxnSpPr>
            <p:spPr>
              <a:xfrm>
                <a:off x="1661160" y="3886200"/>
                <a:ext cx="0" cy="1877204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3175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22F2741B-1F99-29E9-916A-090DD0A61E20}"/>
                </a:ext>
              </a:extLst>
            </p:cNvPr>
            <p:cNvCxnSpPr>
              <a:cxnSpLocks/>
            </p:cNvCxnSpPr>
            <p:nvPr/>
          </p:nvCxnSpPr>
          <p:spPr>
            <a:xfrm>
              <a:off x="7707776" y="2593262"/>
              <a:ext cx="0" cy="3864713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E3DC59A-6A01-A3BA-4A8B-90D9F470A482}"/>
              </a:ext>
            </a:extLst>
          </p:cNvPr>
          <p:cNvSpPr/>
          <p:nvPr/>
        </p:nvSpPr>
        <p:spPr>
          <a:xfrm>
            <a:off x="891250" y="5225959"/>
            <a:ext cx="5780233" cy="1370537"/>
          </a:xfrm>
          <a:prstGeom prst="roundRect">
            <a:avLst>
              <a:gd name="adj" fmla="val 6733"/>
            </a:avLst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4396FF7-3C80-52DA-1B34-35DFCEAAE3EE}"/>
              </a:ext>
            </a:extLst>
          </p:cNvPr>
          <p:cNvSpPr txBox="1"/>
          <p:nvPr/>
        </p:nvSpPr>
        <p:spPr>
          <a:xfrm>
            <a:off x="891250" y="5284337"/>
            <a:ext cx="578023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Liste de contraintes possibles :</a:t>
            </a:r>
          </a:p>
          <a:p>
            <a:pPr algn="ctr"/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Unique, Check, Index,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ForeignKey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Enum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Composites, Validation ORM…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64A5FA1F-10F2-C16D-686D-7EBBF9EA9DC7}"/>
              </a:ext>
            </a:extLst>
          </p:cNvPr>
          <p:cNvSpPr/>
          <p:nvPr/>
        </p:nvSpPr>
        <p:spPr>
          <a:xfrm>
            <a:off x="7778190" y="1791299"/>
            <a:ext cx="4137551" cy="4587227"/>
          </a:xfrm>
          <a:prstGeom prst="roundRect">
            <a:avLst>
              <a:gd name="adj" fmla="val 6733"/>
            </a:avLst>
          </a:prstGeom>
          <a:solidFill>
            <a:srgbClr val="ED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4CC56A0-AAD1-6F12-1936-C7292D6748ED}"/>
              </a:ext>
            </a:extLst>
          </p:cNvPr>
          <p:cNvSpPr txBox="1"/>
          <p:nvPr/>
        </p:nvSpPr>
        <p:spPr>
          <a:xfrm>
            <a:off x="7778190" y="1860228"/>
            <a:ext cx="4115673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Bonnes pratiques</a:t>
            </a:r>
          </a:p>
          <a:p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Séparer les modèles, les services, la création de la base de données</a:t>
            </a:r>
          </a:p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Une seule instance de « engine »</a:t>
            </a:r>
          </a:p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Une session par requête: (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contextmanager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Validation à renforcer</a:t>
            </a:r>
          </a:p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  <a:hlinkClick r:id="rId2"/>
              </a:rPr>
              <a:t>Alembic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pour les migrations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A867DD3A-044D-F7AE-1EC2-C6743DB6AB7F}"/>
              </a:ext>
            </a:extLst>
          </p:cNvPr>
          <p:cNvCxnSpPr>
            <a:cxnSpLocks/>
          </p:cNvCxnSpPr>
          <p:nvPr/>
        </p:nvCxnSpPr>
        <p:spPr>
          <a:xfrm>
            <a:off x="7548008" y="1791299"/>
            <a:ext cx="0" cy="460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2CD5958-0DE6-C876-99B7-2F869D5A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33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8C15-03FA-83EC-1E26-BF8C64F0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977D4CE-1443-25D0-5218-6A8BA6A767C6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CDEB9F6-A982-1FAA-59C9-7FC8C2CB67C8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Outils de développement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3CE438-A2EB-7A9C-CB00-DA43836FF416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3E53E7-805E-7811-6AFD-38F12014226E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5F013A15-827A-E5AF-0ED1-30FF17AA5C05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9066BFDC-0614-8BBE-2E96-FBAE961A649A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BC7CAA8E-D387-8743-8566-4FB8E683521B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34F2EC18-E864-32A9-976F-EF2CD6E946CC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D5728ABD-882A-6A34-7582-D13DD4E5A30E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27A986A5-A553-9188-E527-8754F91BBC61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ECC11807-8FEB-4717-9CCB-D27EBE8DAA2D}"/>
              </a:ext>
            </a:extLst>
          </p:cNvPr>
          <p:cNvGrpSpPr/>
          <p:nvPr/>
        </p:nvGrpSpPr>
        <p:grpSpPr>
          <a:xfrm>
            <a:off x="8749077" y="72293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E38621C2-371C-74E7-56F5-B6F7F16A4A45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56EFB32-CB97-21AB-A69A-411E87D3529A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3F429550-C1FF-35D5-404A-5CAF6CB7DF31}"/>
              </a:ext>
            </a:extLst>
          </p:cNvPr>
          <p:cNvGrpSpPr/>
          <p:nvPr/>
        </p:nvGrpSpPr>
        <p:grpSpPr>
          <a:xfrm>
            <a:off x="8749077" y="383428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CDDBF762-289E-4A26-E69D-03140635D905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BC742799-A90D-9B1A-E88E-266DBBA89F93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5E84ADD0-521B-46D2-CB3A-700BC86D57AD}"/>
              </a:ext>
            </a:extLst>
          </p:cNvPr>
          <p:cNvGrpSpPr/>
          <p:nvPr/>
        </p:nvGrpSpPr>
        <p:grpSpPr>
          <a:xfrm>
            <a:off x="8749077" y="687416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BC80577C-CC92-E622-4AD5-776C0AE9A929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54F0DD8-F3E8-6EAC-3717-FC9E8D12B955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57302-333E-36DC-307E-00914A88E0D7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6724E5A-A84B-002F-4F0A-15EFD3112976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Premier outil - UV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516465-BC46-5398-E3AC-CC80B1D1E813}"/>
              </a:ext>
            </a:extLst>
          </p:cNvPr>
          <p:cNvSpPr txBox="1"/>
          <p:nvPr/>
        </p:nvSpPr>
        <p:spPr>
          <a:xfrm>
            <a:off x="355449" y="1623137"/>
            <a:ext cx="1153841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Gestionnaire de dépendances et d’environnement Python ultra-rapide écrit en Rust.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Remplace </a:t>
            </a:r>
            <a:r>
              <a:rPr lang="fr-FR" sz="2400" dirty="0" err="1"/>
              <a:t>pip</a:t>
            </a:r>
            <a:r>
              <a:rPr lang="fr-FR" sz="2400" dirty="0"/>
              <a:t> et </a:t>
            </a:r>
            <a:r>
              <a:rPr lang="fr-FR" sz="2400" dirty="0" err="1"/>
              <a:t>venv</a:t>
            </a:r>
            <a:r>
              <a:rPr lang="fr-FR" sz="2400" dirty="0"/>
              <a:t>, 10-100x plus rapide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2"/>
              </a:rPr>
              <a:t>UV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C0E2AB0-D8AA-4BA0-70A5-80B71EB30A7F}"/>
              </a:ext>
            </a:extLst>
          </p:cNvPr>
          <p:cNvGrpSpPr/>
          <p:nvPr/>
        </p:nvGrpSpPr>
        <p:grpSpPr>
          <a:xfrm>
            <a:off x="6722139" y="4352729"/>
            <a:ext cx="4493927" cy="1992722"/>
            <a:chOff x="1661160" y="3886200"/>
            <a:chExt cx="5859921" cy="187720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5026A7-B9A8-1ED9-3BE9-EE057D9DFC82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Récupérer un projet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install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.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\Scripts\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activate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sync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384CABFC-BB7E-D019-DD00-AFC843C4CA00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CBB6A11-4739-07E1-85E4-FF78C1A4A36C}"/>
              </a:ext>
            </a:extLst>
          </p:cNvPr>
          <p:cNvGrpSpPr/>
          <p:nvPr/>
        </p:nvGrpSpPr>
        <p:grpSpPr>
          <a:xfrm>
            <a:off x="740780" y="3530663"/>
            <a:ext cx="4637582" cy="1995729"/>
            <a:chOff x="1661160" y="3886200"/>
            <a:chExt cx="5859921" cy="187720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E9C184-5482-B061-AA36-C75FD1971C07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Ajouter un package avec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__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package_name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</a:p>
            <a:p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Enlever un package avec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remove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__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package_name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</a:p>
          </p:txBody>
        </p: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9745AC5E-70F0-9187-B3ED-32C15718D490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333E4CEF-18E9-7B03-AC8B-E14B7D5B55BF}"/>
              </a:ext>
            </a:extLst>
          </p:cNvPr>
          <p:cNvGrpSpPr/>
          <p:nvPr/>
        </p:nvGrpSpPr>
        <p:grpSpPr>
          <a:xfrm>
            <a:off x="6722139" y="2449806"/>
            <a:ext cx="4493927" cy="1701043"/>
            <a:chOff x="1661160" y="3886200"/>
            <a:chExt cx="5859921" cy="187720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D76A17C-B094-E715-6B1B-E6E80C26C861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Démarrer un nouveau projet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init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.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\Scripts\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activate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B06263E4-695F-1F7B-A7D8-01BE4D58BAC7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D91724-ABE6-90BF-BFB1-6FD7760C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52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5221-71DA-7137-FF9B-7D27833D1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409DC3C-C063-9EC2-F117-C875D87860A0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AAB4982-AFE4-33B0-611C-840F7ADCBE08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Outils de développement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C9F439-C1C2-56C5-0AD8-4DE8BB149302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A273B-6A04-5629-3F93-BE21C3F54498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CAA00806-3103-4180-8787-C5D8FFB8583A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54CCAFBC-696D-EB87-43D6-57391E965E94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944F52F1-BF15-3CDE-FD19-E5DA7C287956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E67C2577-1A6B-1788-4757-A317A899C785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02385C9C-5A03-2888-F99F-5D85A45D37AC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E3928C0-B275-155A-D75E-3392BCD46EF2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70D71AAD-156B-E3B9-98EE-E95D94C59630}"/>
              </a:ext>
            </a:extLst>
          </p:cNvPr>
          <p:cNvGrpSpPr/>
          <p:nvPr/>
        </p:nvGrpSpPr>
        <p:grpSpPr>
          <a:xfrm>
            <a:off x="8749077" y="72293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F69F2852-9A01-06F4-3D3E-48636D1EC04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EECC205F-C8D9-2347-D3C2-9A64FBBF9E0E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C115CB9F-7418-FAF2-0BBF-50D77888690A}"/>
              </a:ext>
            </a:extLst>
          </p:cNvPr>
          <p:cNvGrpSpPr/>
          <p:nvPr/>
        </p:nvGrpSpPr>
        <p:grpSpPr>
          <a:xfrm>
            <a:off x="8749077" y="383428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59DBE64D-8BE9-AE69-154F-C625A1DA757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F0D0B24-9AE1-3966-D1BC-B91F92D65D2A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0BD9FB4-028A-EB89-B208-3B301C00640E}"/>
              </a:ext>
            </a:extLst>
          </p:cNvPr>
          <p:cNvGrpSpPr/>
          <p:nvPr/>
        </p:nvGrpSpPr>
        <p:grpSpPr>
          <a:xfrm>
            <a:off x="8749077" y="687416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1442054-61F9-9C88-1F1D-4172D9425B5D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4FA67EA4-FE9A-CE76-A1BC-B6423558E1E8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FE73EBED-8E86-3470-2DC1-39101266CEC8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46DF32-4BEC-5DDD-0669-B5C742D6F99C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Deuxième outil - Ruff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265596-B952-5108-4DC0-5AC7995A01FD}"/>
              </a:ext>
            </a:extLst>
          </p:cNvPr>
          <p:cNvSpPr txBox="1"/>
          <p:nvPr/>
        </p:nvSpPr>
        <p:spPr>
          <a:xfrm>
            <a:off x="355450" y="1623137"/>
            <a:ext cx="7364864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Formatter et linter python extrêmement rapide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Remplace Flake8 /</a:t>
            </a:r>
            <a:r>
              <a:rPr lang="fr-FR" sz="2400" dirty="0" err="1"/>
              <a:t>Pylint</a:t>
            </a:r>
            <a:r>
              <a:rPr lang="fr-FR" sz="2400" dirty="0"/>
              <a:t>, 10-100x plus rapide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Garantit une base de code propre et uniforme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Très utile en projet collaboratif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2"/>
              </a:rPr>
              <a:t>RUFF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D33147A-2885-886C-5F73-BA6372D791B3}"/>
              </a:ext>
            </a:extLst>
          </p:cNvPr>
          <p:cNvGrpSpPr/>
          <p:nvPr/>
        </p:nvGrpSpPr>
        <p:grpSpPr>
          <a:xfrm>
            <a:off x="7282684" y="1653915"/>
            <a:ext cx="4553866" cy="1837905"/>
            <a:chOff x="1661160" y="3886200"/>
            <a:chExt cx="5859921" cy="18772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76091B-0DA2-9E6E-585D-C6392313E442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pandas as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pd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os,sys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create_list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 ):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mylist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=[1,2,3,4,5]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mylist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8242D15-6E92-92B2-1574-00457EA86E0C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1A98FCAF-0700-FC14-21EE-EABDF1D0BAA2}"/>
              </a:ext>
            </a:extLst>
          </p:cNvPr>
          <p:cNvGrpSpPr/>
          <p:nvPr/>
        </p:nvGrpSpPr>
        <p:grpSpPr>
          <a:xfrm>
            <a:off x="1321026" y="4520449"/>
            <a:ext cx="4637582" cy="1995729"/>
            <a:chOff x="1661160" y="3886200"/>
            <a:chExt cx="5859921" cy="187720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0B928D-D69E-0859-CBC9-59E22BA9DEF5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Vérifier le code : 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ruff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check .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Et le corriger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ruff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check . --fix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Formatter le code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Ruff format .</a:t>
              </a: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B6B5646B-6422-DE9C-843C-77E09781D03A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F2C5F9F-6275-82CE-C52F-ADA50E7F5341}"/>
              </a:ext>
            </a:extLst>
          </p:cNvPr>
          <p:cNvGrpSpPr/>
          <p:nvPr/>
        </p:nvGrpSpPr>
        <p:grpSpPr>
          <a:xfrm>
            <a:off x="7282684" y="3952857"/>
            <a:ext cx="4553866" cy="2563321"/>
            <a:chOff x="1661160" y="3886200"/>
            <a:chExt cx="5859921" cy="187720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3A4A025-F61F-C447-0539-0F5BB90202D0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os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sys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pandas as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pd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create_list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mylist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[1, 2, 3, 4, 5]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mylist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1127AFA6-D317-9469-4007-61329E1946E3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FAE028C-C53C-D132-3B05-3F9C5AB37248}"/>
              </a:ext>
            </a:extLst>
          </p:cNvPr>
          <p:cNvCxnSpPr>
            <a:cxnSpLocks/>
          </p:cNvCxnSpPr>
          <p:nvPr/>
        </p:nvCxnSpPr>
        <p:spPr>
          <a:xfrm>
            <a:off x="9709741" y="3321934"/>
            <a:ext cx="0" cy="813784"/>
          </a:xfrm>
          <a:prstGeom prst="straightConnector1">
            <a:avLst/>
          </a:prstGeom>
          <a:ln w="101600">
            <a:solidFill>
              <a:srgbClr val="C2443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3BD3D2-7A0E-03C0-EDA9-8417AE78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59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12AE-ADD6-E068-BA77-228CEEA3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F143E1-6B04-92F8-6669-B16C8ECEB6D7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F5509BC-1DB1-0631-0760-4F528340E21F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Outils de développement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F7B259-24C5-B9CF-E230-1F5A953EE015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E18877-1AC4-E698-B84A-ED953648ABC9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24528B52-E951-EDEE-E04D-BA730E68C7D1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6DFDF4DD-43EB-0A0F-8312-7A678CE6C2D6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1ECDB0BD-66D5-DB56-F2D6-C3E7EC601E5F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BC55BB9A-0FCE-51C9-827E-4B3BCE01AEA9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1CD12E-D238-E313-2F4F-4CB606D4FB9F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ADB8C0B3-D816-A729-7CB4-914A7BF0BE00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8542F6D0-12EA-4FB2-DD3B-9F756B638413}"/>
              </a:ext>
            </a:extLst>
          </p:cNvPr>
          <p:cNvGrpSpPr/>
          <p:nvPr/>
        </p:nvGrpSpPr>
        <p:grpSpPr>
          <a:xfrm>
            <a:off x="8749077" y="72293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31D0A9CF-58AB-6C63-76C4-86990A8196B5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1AD30391-BA59-632C-B99B-00F99AF97BD9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4BB3FDF1-E5B6-3553-5E72-F0A486506B44}"/>
              </a:ext>
            </a:extLst>
          </p:cNvPr>
          <p:cNvGrpSpPr/>
          <p:nvPr/>
        </p:nvGrpSpPr>
        <p:grpSpPr>
          <a:xfrm>
            <a:off x="8749077" y="383428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10FA2987-06FA-CD63-67AE-662348A24CA1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DC75FA6-039A-36EE-8419-AA996E5CCDC9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DD7225FF-2162-4995-EBF8-114B9EB3924E}"/>
              </a:ext>
            </a:extLst>
          </p:cNvPr>
          <p:cNvGrpSpPr/>
          <p:nvPr/>
        </p:nvGrpSpPr>
        <p:grpSpPr>
          <a:xfrm>
            <a:off x="8749077" y="687416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A28FF4B-3D08-4007-EC3E-9219DA7A6174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B6021070-97C5-06BF-42D0-9DEB6275225F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BAF1905-6F3E-1642-E20C-445CE5DF0368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9671B25-63FA-9686-25AF-CAC5E1D6E40A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Troisième outil - Gunicorn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207C59A-E749-2D5C-C46C-038E8A5C7A8E}"/>
              </a:ext>
            </a:extLst>
          </p:cNvPr>
          <p:cNvSpPr txBox="1"/>
          <p:nvPr/>
        </p:nvSpPr>
        <p:spPr>
          <a:xfrm>
            <a:off x="355449" y="1623137"/>
            <a:ext cx="1153841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Serveur WSGI utilisé pour déployer des applications Python.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Mieux que le serveur Flask intégré car : multi-process, stable pour la mise en production, compatible WSGI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400" dirty="0"/>
              <a:t>Lien du site : </a:t>
            </a:r>
            <a:r>
              <a:rPr lang="fr-FR" sz="2400" dirty="0">
                <a:hlinkClick r:id="rId2"/>
              </a:rPr>
              <a:t>GUNICORN</a:t>
            </a:r>
            <a:endParaRPr lang="fr-FR" sz="24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D831041-7D41-660A-E663-9455A475BAA6}"/>
              </a:ext>
            </a:extLst>
          </p:cNvPr>
          <p:cNvGrpSpPr/>
          <p:nvPr/>
        </p:nvGrpSpPr>
        <p:grpSpPr>
          <a:xfrm>
            <a:off x="5008880" y="3281680"/>
            <a:ext cx="6225933" cy="2900536"/>
            <a:chOff x="1661160" y="3886200"/>
            <a:chExt cx="5859921" cy="187720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F822F1-1583-31BA-F209-5D76BDC4E459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Lancer un serveur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flask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avec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gunicorn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gunicorn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 alors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install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gunicorn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Puis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gunicorn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app:app</a:t>
              </a:r>
              <a:endParaRPr lang="fr-FR" b="1" dirty="0">
                <a:solidFill>
                  <a:srgbClr val="33405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Avec plusieurs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workers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:</a:t>
              </a:r>
            </a:p>
            <a:p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gunicorn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app:app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--</a:t>
              </a:r>
              <a:r>
                <a:rPr lang="fr-FR" b="1" dirty="0" err="1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workers</a:t>
              </a:r>
              <a:r>
                <a:rPr lang="fr-FR" b="1" dirty="0">
                  <a:solidFill>
                    <a:srgbClr val="33405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4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C5059731-E638-241B-940E-E21D1B71C43C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AC42262-67FB-217D-3A5D-24E33DAF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158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8DA4-1D68-B711-5974-512ED757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D5A5E81-568B-8324-E1E7-C41D2C332636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2893F84-6186-28CF-5B6A-E8CCB35C02FE}"/>
              </a:ext>
            </a:extLst>
          </p:cNvPr>
          <p:cNvSpPr txBox="1"/>
          <p:nvPr/>
        </p:nvSpPr>
        <p:spPr>
          <a:xfrm>
            <a:off x="891250" y="423437"/>
            <a:ext cx="7749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Mise en pratique - TD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077688-41F2-A895-1C25-BE50A3DD9868}"/>
              </a:ext>
            </a:extLst>
          </p:cNvPr>
          <p:cNvSpPr/>
          <p:nvPr/>
        </p:nvSpPr>
        <p:spPr>
          <a:xfrm>
            <a:off x="8640929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FB51C-034E-DF71-634C-3B9B5F354AF3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4AA085F-B95F-316E-0C1C-B446FA7691DB}"/>
              </a:ext>
            </a:extLst>
          </p:cNvPr>
          <p:cNvGrpSpPr/>
          <p:nvPr/>
        </p:nvGrpSpPr>
        <p:grpSpPr>
          <a:xfrm>
            <a:off x="8749078" y="81954"/>
            <a:ext cx="2924762" cy="369332"/>
            <a:chOff x="8749078" y="645623"/>
            <a:chExt cx="2924762" cy="369332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015221A9-C846-5D56-B37B-688291BC5A49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57DF98F8-E0FE-4E29-FD05-9BA0B47DC2F9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Vs autres </a:t>
              </a:r>
              <a:r>
                <a:rPr lang="fr-FR" dirty="0" err="1"/>
                <a:t>Frameworks</a:t>
              </a:r>
              <a:endParaRPr lang="fr-FR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8CAE0048-F40A-6BA5-1A48-099C7F8A2D32}"/>
              </a:ext>
            </a:extLst>
          </p:cNvPr>
          <p:cNvGrpSpPr/>
          <p:nvPr/>
        </p:nvGrpSpPr>
        <p:grpSpPr>
          <a:xfrm>
            <a:off x="8749078" y="102994"/>
            <a:ext cx="3144789" cy="369332"/>
            <a:chOff x="8749078" y="949611"/>
            <a:chExt cx="3144789" cy="369332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0450EDC-7FDB-60DE-392E-77DBCAD8C274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2E72A9F-AB2D-6DB3-EF43-B7C348277DF6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et écosystème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9A41C1B9-6EA7-66CE-0B35-CB33EB36D2D4}"/>
              </a:ext>
            </a:extLst>
          </p:cNvPr>
          <p:cNvGrpSpPr/>
          <p:nvPr/>
        </p:nvGrpSpPr>
        <p:grpSpPr>
          <a:xfrm>
            <a:off x="8749077" y="72293"/>
            <a:ext cx="3144789" cy="369332"/>
            <a:chOff x="8749078" y="949611"/>
            <a:chExt cx="3144789" cy="369332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40191D9E-B589-700B-7F96-79617575C310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C83A3B4D-F357-D483-45EE-D7EA52404179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Base de données et ORM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BB863EEE-8D3F-A5AA-046D-A43C09A3B716}"/>
              </a:ext>
            </a:extLst>
          </p:cNvPr>
          <p:cNvGrpSpPr/>
          <p:nvPr/>
        </p:nvGrpSpPr>
        <p:grpSpPr>
          <a:xfrm>
            <a:off x="8749077" y="120316"/>
            <a:ext cx="3144789" cy="369332"/>
            <a:chOff x="8749078" y="949611"/>
            <a:chExt cx="3144789" cy="369332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DC8FCAB6-F9B9-AA17-6FD2-583DC1CC68A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DA4BA956-CE93-ED6E-7585-CA3614C84655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Outils de développement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A71B4CB3-2C80-A903-D61D-DAF349624174}"/>
              </a:ext>
            </a:extLst>
          </p:cNvPr>
          <p:cNvGrpSpPr/>
          <p:nvPr/>
        </p:nvGrpSpPr>
        <p:grpSpPr>
          <a:xfrm>
            <a:off x="8749077" y="424304"/>
            <a:ext cx="3144789" cy="369332"/>
            <a:chOff x="8749078" y="949611"/>
            <a:chExt cx="3144789" cy="369332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6729DB14-B160-31FA-A6A3-8148CF487BAA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BD34413C-D271-3816-3952-8AF02D62313A}"/>
                </a:ext>
              </a:extLst>
            </p:cNvPr>
            <p:cNvSpPr txBox="1"/>
            <p:nvPr/>
          </p:nvSpPr>
          <p:spPr>
            <a:xfrm>
              <a:off x="8969105" y="949611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Mise en pratique - TD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3CE768E-205E-76AF-098A-FA2EF0DC7729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FD6665-253E-424A-4676-D18B66E222EB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Première partie du TD : découverte de Flask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D33602-F0C7-17E7-6ACC-0113C0192B1B}"/>
              </a:ext>
            </a:extLst>
          </p:cNvPr>
          <p:cNvSpPr txBox="1"/>
          <p:nvPr/>
        </p:nvSpPr>
        <p:spPr>
          <a:xfrm>
            <a:off x="357284" y="1869505"/>
            <a:ext cx="8917522" cy="326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/>
              <a:t>Objectif : Créer sa première application web Flask.</a:t>
            </a:r>
          </a:p>
          <a:p>
            <a:pPr>
              <a:lnSpc>
                <a:spcPct val="150000"/>
              </a:lnSpc>
            </a:pPr>
            <a:endParaRPr lang="fr-FR" sz="2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Initialiser le projet avec UV.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Créer une app Flask minimale.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Créer un </a:t>
            </a:r>
            <a:r>
              <a:rPr lang="fr-FR" sz="2800" dirty="0" err="1"/>
              <a:t>template</a:t>
            </a:r>
            <a:r>
              <a:rPr lang="fr-FR" sz="2800" dirty="0"/>
              <a:t> HTML avec Jinja.</a:t>
            </a:r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52E4008-2951-61A2-9730-FF3148FB9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491" y="2858562"/>
            <a:ext cx="4450630" cy="29494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FE59A7F-80BC-935B-A26C-533ABC26ED31}"/>
              </a:ext>
            </a:extLst>
          </p:cNvPr>
          <p:cNvSpPr/>
          <p:nvPr/>
        </p:nvSpPr>
        <p:spPr>
          <a:xfrm>
            <a:off x="0" y="7036164"/>
            <a:ext cx="12192000" cy="369332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AEBC52-FFA5-9E63-60EE-5AF90585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14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DAF2-2827-4489-295B-3019679A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AC09E6D-DA34-62FD-0E6E-B186C437B849}"/>
              </a:ext>
            </a:extLst>
          </p:cNvPr>
          <p:cNvSpPr/>
          <p:nvPr/>
        </p:nvSpPr>
        <p:spPr>
          <a:xfrm>
            <a:off x="0" y="3530964"/>
            <a:ext cx="12192000" cy="3327036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A5A929A-84F7-42E5-A0F2-B7AF20A0725F}"/>
              </a:ext>
            </a:extLst>
          </p:cNvPr>
          <p:cNvSpPr txBox="1"/>
          <p:nvPr/>
        </p:nvSpPr>
        <p:spPr>
          <a:xfrm>
            <a:off x="0" y="2653801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Merci de nous avoir écouté</a:t>
            </a:r>
          </a:p>
          <a:p>
            <a:pPr algn="ctr"/>
            <a:r>
              <a:rPr lang="fr-FR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 questions ?</a:t>
            </a:r>
          </a:p>
          <a:p>
            <a:pPr algn="ctr"/>
            <a:r>
              <a:rPr lang="fr-FR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 travail 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E4A56-196C-CFC0-4220-802D04ED2035}"/>
              </a:ext>
            </a:extLst>
          </p:cNvPr>
          <p:cNvSpPr/>
          <p:nvPr/>
        </p:nvSpPr>
        <p:spPr>
          <a:xfrm>
            <a:off x="-126971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6020B1E-A3B5-D7C8-B100-B8F715B5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827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D443-6FA4-DBA1-AD6C-DDD4F03E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C415A98-0B1C-F05A-673E-26E28DCFB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99870"/>
            <a:ext cx="3093720" cy="165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1A7DF67-990B-7CD7-8933-89A39204000A}"/>
              </a:ext>
            </a:extLst>
          </p:cNvPr>
          <p:cNvSpPr txBox="1"/>
          <p:nvPr/>
        </p:nvSpPr>
        <p:spPr>
          <a:xfrm>
            <a:off x="2133600" y="6396335"/>
            <a:ext cx="792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sz="1800" b="0" i="0" u="none" strike="noStrike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Olivier BOROT - Axel CANO - Marin NAGY - Cyrille PECNIK</a:t>
            </a:r>
            <a:endParaRPr lang="fr-FR" b="0">
              <a:effectLst/>
            </a:endParaRPr>
          </a:p>
          <a:p>
            <a:pPr>
              <a:buNone/>
            </a:pPr>
            <a:br>
              <a:rPr lang="fr-FR"/>
            </a:b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24ECF07-AFED-70A8-C8E4-5AC2C375EF49}"/>
              </a:ext>
            </a:extLst>
          </p:cNvPr>
          <p:cNvSpPr txBox="1"/>
          <p:nvPr/>
        </p:nvSpPr>
        <p:spPr>
          <a:xfrm>
            <a:off x="365760" y="1711762"/>
            <a:ext cx="6134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Atelier Flask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B9AED89-0070-7DDD-BECB-767B84C07F55}"/>
              </a:ext>
            </a:extLst>
          </p:cNvPr>
          <p:cNvCxnSpPr/>
          <p:nvPr/>
        </p:nvCxnSpPr>
        <p:spPr>
          <a:xfrm>
            <a:off x="365760" y="2700510"/>
            <a:ext cx="55473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DA48479-36E2-9925-FCDD-A99EBCF9A0C4}"/>
              </a:ext>
            </a:extLst>
          </p:cNvPr>
          <p:cNvSpPr txBox="1"/>
          <p:nvPr/>
        </p:nvSpPr>
        <p:spPr>
          <a:xfrm>
            <a:off x="487680" y="2819758"/>
            <a:ext cx="6134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Deuxième partie : </a:t>
            </a:r>
            <a:r>
              <a:rPr lang="fr-FR" sz="3200" b="1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RagMe</a:t>
            </a:r>
            <a:endParaRPr lang="fr-FR" sz="2800" b="1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102AE9-1DFF-94A9-53A6-206948005A3E}"/>
              </a:ext>
            </a:extLst>
          </p:cNvPr>
          <p:cNvSpPr txBox="1"/>
          <p:nvPr/>
        </p:nvSpPr>
        <p:spPr>
          <a:xfrm>
            <a:off x="3036570" y="5987468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sz="18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M2 SISE 2025-2026  -  24 février 2026</a:t>
            </a:r>
            <a:endParaRPr lang="fr-FR" b="0" dirty="0"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D2950-2E20-2C11-747F-3564B5FB226E}"/>
              </a:ext>
            </a:extLst>
          </p:cNvPr>
          <p:cNvSpPr/>
          <p:nvPr/>
        </p:nvSpPr>
        <p:spPr>
          <a:xfrm>
            <a:off x="10991968" y="0"/>
            <a:ext cx="1200032" cy="6858000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 descr="Une image contenant obscurité, noir, noir et blanc, léger&#10;&#10;Le contenu généré par l’IA peut être incorrect.">
            <a:extLst>
              <a:ext uri="{FF2B5EF4-FFF2-40B4-BE49-F238E27FC236}">
                <a16:creationId xmlns:a16="http://schemas.microsoft.com/office/drawing/2014/main" id="{DCA944A6-A6B9-3F98-77FA-4EAB91635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446" y="1842382"/>
            <a:ext cx="4308707" cy="1716256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FDEFC1-37B2-4C4F-652F-AB3775F9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2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0B4A-B41E-449E-615D-C5B41AC1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EDD3107-3E14-F797-93EF-F2DE174C6E2B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086DB79-3266-23AC-F2D0-CF0FF3B4E574}"/>
              </a:ext>
            </a:extLst>
          </p:cNvPr>
          <p:cNvSpPr txBox="1"/>
          <p:nvPr/>
        </p:nvSpPr>
        <p:spPr>
          <a:xfrm>
            <a:off x="891251" y="423437"/>
            <a:ext cx="6134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84807CD-B51F-50E3-6008-CD61BF70F04A}"/>
              </a:ext>
            </a:extLst>
          </p:cNvPr>
          <p:cNvCxnSpPr>
            <a:cxnSpLocks/>
          </p:cNvCxnSpPr>
          <p:nvPr/>
        </p:nvCxnSpPr>
        <p:spPr>
          <a:xfrm rot="5400000">
            <a:off x="5188869" y="5047240"/>
            <a:ext cx="1812075" cy="0"/>
          </a:xfrm>
          <a:prstGeom prst="line">
            <a:avLst/>
          </a:prstGeom>
          <a:ln w="31750">
            <a:solidFill>
              <a:srgbClr val="3340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BAB4EF5-07DB-3F47-6745-09E4844A2A2E}"/>
              </a:ext>
            </a:extLst>
          </p:cNvPr>
          <p:cNvCxnSpPr>
            <a:cxnSpLocks/>
          </p:cNvCxnSpPr>
          <p:nvPr/>
        </p:nvCxnSpPr>
        <p:spPr>
          <a:xfrm rot="5400000">
            <a:off x="5189962" y="2809497"/>
            <a:ext cx="1812075" cy="0"/>
          </a:xfrm>
          <a:prstGeom prst="line">
            <a:avLst/>
          </a:prstGeom>
          <a:ln w="31750">
            <a:solidFill>
              <a:srgbClr val="3340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DF2220F0-3BCF-4D74-4D21-13D7B3E8DC27}"/>
              </a:ext>
            </a:extLst>
          </p:cNvPr>
          <p:cNvSpPr/>
          <p:nvPr/>
        </p:nvSpPr>
        <p:spPr>
          <a:xfrm rot="5400000">
            <a:off x="5604652" y="1412112"/>
            <a:ext cx="982695" cy="982695"/>
          </a:xfrm>
          <a:prstGeom prst="ellipse">
            <a:avLst/>
          </a:prstGeom>
          <a:solidFill>
            <a:srgbClr val="BAC3CC"/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rgbClr val="334051"/>
                </a:solidFill>
                <a:latin typeface="+mj-lt"/>
                <a:cs typeface="Aharoni" panose="02010803020104030203" pitchFamily="2" charset="-79"/>
              </a:rPr>
              <a:t>1</a:t>
            </a:r>
            <a:endParaRPr lang="fr-FR" sz="2800" b="1" dirty="0">
              <a:solidFill>
                <a:srgbClr val="334051"/>
              </a:solidFill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B96147D-145D-547D-3FF1-1C19D2D6A3E4}"/>
              </a:ext>
            </a:extLst>
          </p:cNvPr>
          <p:cNvSpPr/>
          <p:nvPr/>
        </p:nvSpPr>
        <p:spPr>
          <a:xfrm rot="5400000">
            <a:off x="5604652" y="3419064"/>
            <a:ext cx="982695" cy="982695"/>
          </a:xfrm>
          <a:prstGeom prst="ellipse">
            <a:avLst/>
          </a:prstGeom>
          <a:solidFill>
            <a:srgbClr val="334051"/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rgbClr val="BAC3CC"/>
                </a:solidFill>
                <a:latin typeface="+mj-lt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24D4674-FFDE-1800-BA37-AECFBE07CB18}"/>
              </a:ext>
            </a:extLst>
          </p:cNvPr>
          <p:cNvSpPr/>
          <p:nvPr/>
        </p:nvSpPr>
        <p:spPr>
          <a:xfrm rot="5400000">
            <a:off x="5604652" y="5426016"/>
            <a:ext cx="982695" cy="982695"/>
          </a:xfrm>
          <a:prstGeom prst="ellipse">
            <a:avLst/>
          </a:prstGeom>
          <a:solidFill>
            <a:srgbClr val="BAC3CC"/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rgbClr val="334051"/>
                </a:solidFill>
                <a:latin typeface="+mj-lt"/>
                <a:cs typeface="Aharoni" panose="02010803020104030203" pitchFamily="2" charset="-79"/>
              </a:rPr>
              <a:t>3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81F4AB-A996-0BE3-CC95-BEA34E81065C}"/>
              </a:ext>
            </a:extLst>
          </p:cNvPr>
          <p:cNvSpPr txBox="1"/>
          <p:nvPr/>
        </p:nvSpPr>
        <p:spPr>
          <a:xfrm>
            <a:off x="6834114" y="1412112"/>
            <a:ext cx="39756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Présentation de l’app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3C33D14-D5AE-CEBD-2ADF-2A2FB3EF4272}"/>
              </a:ext>
            </a:extLst>
          </p:cNvPr>
          <p:cNvSpPr txBox="1"/>
          <p:nvPr/>
        </p:nvSpPr>
        <p:spPr>
          <a:xfrm>
            <a:off x="0" y="3419064"/>
            <a:ext cx="53749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Architecture de l’app</a:t>
            </a:r>
          </a:p>
          <a:p>
            <a:pPr algn="r"/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Front et Back Ends, BDD,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routing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263F04-2AE0-F0E3-B5C1-C82667D0E367}"/>
              </a:ext>
            </a:extLst>
          </p:cNvPr>
          <p:cNvSpPr txBox="1"/>
          <p:nvPr/>
        </p:nvSpPr>
        <p:spPr>
          <a:xfrm>
            <a:off x="6815952" y="5426016"/>
            <a:ext cx="48127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Deuxième partie du TD</a:t>
            </a:r>
          </a:p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Implémentation guidée sur un projet à trous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2C953-D04F-8548-C3A7-CAFBAB926200}"/>
              </a:ext>
            </a:extLst>
          </p:cNvPr>
          <p:cNvSpPr/>
          <p:nvPr/>
        </p:nvSpPr>
        <p:spPr>
          <a:xfrm>
            <a:off x="12515968" y="0"/>
            <a:ext cx="1200032" cy="6858000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E8D9AB-D793-CF62-349C-54028FEA9648}"/>
              </a:ext>
            </a:extLst>
          </p:cNvPr>
          <p:cNvSpPr/>
          <p:nvPr/>
        </p:nvSpPr>
        <p:spPr>
          <a:xfrm flipH="1">
            <a:off x="8595211" y="-1532260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54179A2C-4D12-3A6E-579A-70B952FD02CA}"/>
              </a:ext>
            </a:extLst>
          </p:cNvPr>
          <p:cNvGrpSpPr/>
          <p:nvPr/>
        </p:nvGrpSpPr>
        <p:grpSpPr>
          <a:xfrm>
            <a:off x="8749078" y="-1410941"/>
            <a:ext cx="2924762" cy="369332"/>
            <a:chOff x="8749078" y="358092"/>
            <a:chExt cx="2924762" cy="369332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F6463C6-B36C-9504-BCE4-7D025E632F5A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EAA5474-9C1A-ED84-3617-D137527FA047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254156E-750A-79B3-26BA-E7CB5CD5706B}"/>
              </a:ext>
            </a:extLst>
          </p:cNvPr>
          <p:cNvGrpSpPr/>
          <p:nvPr/>
        </p:nvGrpSpPr>
        <p:grpSpPr>
          <a:xfrm>
            <a:off x="8749078" y="-1123410"/>
            <a:ext cx="2924762" cy="369332"/>
            <a:chOff x="8749078" y="645623"/>
            <a:chExt cx="2924762" cy="369332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F44121F-77AB-C9F3-DE2C-17243A4DBEE3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C59CD58-FF6A-8F67-1BD7-E0707F92707C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448A50-B1A1-8416-DEF7-B5AADD2BCAB5}"/>
              </a:ext>
            </a:extLst>
          </p:cNvPr>
          <p:cNvGrpSpPr/>
          <p:nvPr/>
        </p:nvGrpSpPr>
        <p:grpSpPr>
          <a:xfrm>
            <a:off x="8749078" y="-828731"/>
            <a:ext cx="3144789" cy="369332"/>
            <a:chOff x="8749078" y="940302"/>
            <a:chExt cx="3144789" cy="369332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EAE2A5FA-ECF0-114A-5DBD-81E13DB5A0A6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0E33D22-96E0-3499-9E49-E855E0169B19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DF4B4D-3F2A-B14C-B6EE-968984CF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175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5A5E-2259-1C97-A965-BFD73A4E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8F8D61-3DC6-970D-5FB0-E4AD1904930B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0F83169-B32C-A8D8-E3B4-196E82E34F29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de l’app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092EB9F-CA68-88D2-00C6-D3394BDB8272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Ragme</a:t>
            </a:r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: présentation du projet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9157D-5694-2B16-7869-F97AFD1B899B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A150EBD-608A-8A5D-74D9-00203DA2D89C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E3D0EEE5-AA28-5853-EAC9-E209EC30807C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381ADE3-B2E4-4965-342A-FD775EAD6CE8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F4BAE5E9-7CAF-6530-976D-4F54A31BB361}"/>
              </a:ext>
            </a:extLst>
          </p:cNvPr>
          <p:cNvGrpSpPr/>
          <p:nvPr/>
        </p:nvGrpSpPr>
        <p:grpSpPr>
          <a:xfrm>
            <a:off x="8749078" y="64562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096D7069-0B9F-02FD-0916-10ADCD907D23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D30F9C9-0121-F717-DA9B-AD272EEE4BB2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C55C249-0421-D95F-7C4B-DAED29AD7DDC}"/>
              </a:ext>
            </a:extLst>
          </p:cNvPr>
          <p:cNvGrpSpPr/>
          <p:nvPr/>
        </p:nvGrpSpPr>
        <p:grpSpPr>
          <a:xfrm>
            <a:off x="8749078" y="94030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5BD30F2-2674-4F14-6A29-E9A240C60FD0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A71B8FE7-5209-3ED9-C9D6-B15DFD151A57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pic>
        <p:nvPicPr>
          <p:cNvPr id="2" name="Image 1" descr="logo de RAGME">
            <a:extLst>
              <a:ext uri="{FF2B5EF4-FFF2-40B4-BE49-F238E27FC236}">
                <a16:creationId xmlns:a16="http://schemas.microsoft.com/office/drawing/2014/main" id="{3ADDE7C9-95BF-4405-3756-B0078E648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620" y="535485"/>
            <a:ext cx="1755443" cy="69923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236BC2A-0700-3358-412D-DAE324C63B65}"/>
              </a:ext>
            </a:extLst>
          </p:cNvPr>
          <p:cNvSpPr txBox="1"/>
          <p:nvPr/>
        </p:nvSpPr>
        <p:spPr>
          <a:xfrm>
            <a:off x="357283" y="1869505"/>
            <a:ext cx="5094393" cy="3908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 err="1"/>
              <a:t>Chatbot</a:t>
            </a:r>
            <a:r>
              <a:rPr lang="fr-FR" sz="2800" dirty="0"/>
              <a:t> basé sur la </a:t>
            </a:r>
            <a:r>
              <a:rPr lang="fr-FR" sz="2800" b="1" dirty="0"/>
              <a:t>RAG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Basé sur Mistral AI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Gestion des documents, des conversations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Pipeline RAG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Interface dynamique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98FD9B0-C4F0-BD22-1482-BEDBDCA6B7D4}"/>
              </a:ext>
            </a:extLst>
          </p:cNvPr>
          <p:cNvGrpSpPr/>
          <p:nvPr/>
        </p:nvGrpSpPr>
        <p:grpSpPr>
          <a:xfrm>
            <a:off x="6242140" y="2109347"/>
            <a:ext cx="5686451" cy="1319653"/>
            <a:chOff x="1661160" y="3886200"/>
            <a:chExt cx="5859921" cy="18772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BFE50B-0BE1-5ED8-01F3-0FD974A30CC1}"/>
                </a:ext>
              </a:extLst>
            </p:cNvPr>
            <p:cNvSpPr/>
            <p:nvPr/>
          </p:nvSpPr>
          <p:spPr>
            <a:xfrm>
              <a:off x="1661160" y="3886200"/>
              <a:ext cx="5859921" cy="18772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RAG : 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Retrival-Augmented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Generation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=</a:t>
              </a:r>
            </a:p>
            <a:p>
              <a:pPr algn="ctr"/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Technique d’optimisation d’</a:t>
              </a:r>
              <a:r>
                <a:rPr lang="fr-FR" dirty="0" err="1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IAg</a:t>
              </a:r>
              <a:r>
                <a:rPr lang="fr-FR" dirty="0">
                  <a:solidFill>
                    <a:srgbClr val="33405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pour exploiter des ressources supplémentaires sans réentrainement</a:t>
              </a: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918D6186-D29F-F7F5-015D-243C6E7D907F}"/>
                </a:ext>
              </a:extLst>
            </p:cNvPr>
            <p:cNvCxnSpPr/>
            <p:nvPr/>
          </p:nvCxnSpPr>
          <p:spPr>
            <a:xfrm>
              <a:off x="1661160" y="3886200"/>
              <a:ext cx="0" cy="1877204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D74D41-69E9-9CDD-8D61-18F13CB5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704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DC72-F99E-0B47-DA68-98743AF5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3EE4DC1-E7EA-8876-550A-91B6C8018A2E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6F032EA-0843-6FD9-7618-37020883A378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de l’app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873C0EB-5D36-8AB2-D18F-DBBEB6F20187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du projet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516B60-EE06-3894-FA9C-60FCFEE0FA60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5515213-4F3A-2F64-45A5-C933E2B53633}"/>
              </a:ext>
            </a:extLst>
          </p:cNvPr>
          <p:cNvGrpSpPr/>
          <p:nvPr/>
        </p:nvGrpSpPr>
        <p:grpSpPr>
          <a:xfrm>
            <a:off x="8749078" y="5343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972C2E3E-E7C1-AE9D-BE2C-81221BDAD1F8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B961D989-8AF1-372B-9460-155D38FD6628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5AB6641-8AAC-7471-B769-8906D688995C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99145153-2D3A-D385-6479-A194A144C7CB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BE2177C-A069-6527-1FDD-6E1961C5B972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B94BBC0-D2AB-49AF-2E1F-37C18DAC775A}"/>
              </a:ext>
            </a:extLst>
          </p:cNvPr>
          <p:cNvGrpSpPr/>
          <p:nvPr/>
        </p:nvGrpSpPr>
        <p:grpSpPr>
          <a:xfrm>
            <a:off x="8749078" y="652771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6F800C2A-846D-FB37-1C1E-F187B6A84969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39EEC7E1-68E9-20F2-5B36-9164988418F1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182B2BF-4871-F2AB-8EC4-F05261306BF1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logo de RAGME">
            <a:extLst>
              <a:ext uri="{FF2B5EF4-FFF2-40B4-BE49-F238E27FC236}">
                <a16:creationId xmlns:a16="http://schemas.microsoft.com/office/drawing/2014/main" id="{342613BB-0D01-4114-FFF7-523A7AC6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620" y="535485"/>
            <a:ext cx="1755443" cy="699233"/>
          </a:xfrm>
          <a:prstGeom prst="rect">
            <a:avLst/>
          </a:prstGeom>
        </p:spPr>
      </p:pic>
      <p:grpSp>
        <p:nvGrpSpPr>
          <p:cNvPr id="75" name="Groupe 74">
            <a:extLst>
              <a:ext uri="{FF2B5EF4-FFF2-40B4-BE49-F238E27FC236}">
                <a16:creationId xmlns:a16="http://schemas.microsoft.com/office/drawing/2014/main" id="{87FB9970-4A66-F790-B836-9339E3D4D7F5}"/>
              </a:ext>
            </a:extLst>
          </p:cNvPr>
          <p:cNvGrpSpPr/>
          <p:nvPr/>
        </p:nvGrpSpPr>
        <p:grpSpPr>
          <a:xfrm>
            <a:off x="740780" y="1931542"/>
            <a:ext cx="6378254" cy="4341522"/>
            <a:chOff x="353366" y="1861334"/>
            <a:chExt cx="6378254" cy="4341522"/>
          </a:xfrm>
        </p:grpSpPr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42ADB5C0-1FC4-0988-745D-004B0F40A3B0}"/>
                </a:ext>
              </a:extLst>
            </p:cNvPr>
            <p:cNvGrpSpPr/>
            <p:nvPr/>
          </p:nvGrpSpPr>
          <p:grpSpPr>
            <a:xfrm>
              <a:off x="353366" y="1861334"/>
              <a:ext cx="6378254" cy="4341522"/>
              <a:chOff x="419548" y="1753496"/>
              <a:chExt cx="6378254" cy="4341522"/>
            </a:xfrm>
          </p:grpSpPr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9AE51895-E923-BB2D-0150-9B92D0D3EC87}"/>
                  </a:ext>
                </a:extLst>
              </p:cNvPr>
              <p:cNvSpPr/>
              <p:nvPr/>
            </p:nvSpPr>
            <p:spPr>
              <a:xfrm>
                <a:off x="419548" y="1753496"/>
                <a:ext cx="6378254" cy="4341521"/>
              </a:xfrm>
              <a:prstGeom prst="roundRect">
                <a:avLst>
                  <a:gd name="adj" fmla="val 4525"/>
                </a:avLst>
              </a:prstGeom>
              <a:solidFill>
                <a:srgbClr val="EDE7E3"/>
              </a:solidFill>
              <a:ln>
                <a:solidFill>
                  <a:srgbClr val="0E1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dirty="0">
                  <a:solidFill>
                    <a:srgbClr val="0E1820"/>
                  </a:solidFill>
                </a:endParaRPr>
              </a:p>
            </p:txBody>
          </p:sp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56322FF0-76F4-BD4B-3676-F233B4A8953D}"/>
                  </a:ext>
                </a:extLst>
              </p:cNvPr>
              <p:cNvGrpSpPr/>
              <p:nvPr/>
            </p:nvGrpSpPr>
            <p:grpSpPr>
              <a:xfrm>
                <a:off x="419548" y="1847701"/>
                <a:ext cx="6378254" cy="4247317"/>
                <a:chOff x="419548" y="1847701"/>
                <a:chExt cx="6378254" cy="4247317"/>
              </a:xfrm>
            </p:grpSpPr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1116DA2F-62EF-3F4F-3ABA-31A7C9EA1111}"/>
                    </a:ext>
                  </a:extLst>
                </p:cNvPr>
                <p:cNvSpPr txBox="1"/>
                <p:nvPr/>
              </p:nvSpPr>
              <p:spPr>
                <a:xfrm>
                  <a:off x="419548" y="1847701"/>
                  <a:ext cx="3227892" cy="42473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>
                      <a:latin typeface="Abadi" panose="020B0604020104020204" pitchFamily="34" charset="0"/>
                    </a:rPr>
                    <a:t>02 - </a:t>
                  </a:r>
                  <a:r>
                    <a:rPr lang="fr-FR" dirty="0" err="1">
                      <a:latin typeface="Abadi" panose="020B0604020104020204" pitchFamily="34" charset="0"/>
                    </a:rPr>
                    <a:t>RAGme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run.py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app/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__init__.py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routes.py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ajax.py</a:t>
                  </a:r>
                </a:p>
                <a:p>
                  <a:endParaRPr lang="fr-FR" dirty="0">
                    <a:latin typeface="Abadi" panose="020B0604020104020204" pitchFamily="34" charset="0"/>
                  </a:endParaRP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</a:t>
                  </a:r>
                  <a:r>
                    <a:rPr lang="fr-FR" dirty="0" err="1">
                      <a:latin typeface="Abadi" panose="020B0604020104020204" pitchFamily="34" charset="0"/>
                    </a:rPr>
                    <a:t>models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schémas/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</a:t>
                  </a:r>
                  <a:r>
                    <a:rPr lang="fr-FR" dirty="0" err="1">
                      <a:latin typeface="Abadi" panose="020B0604020104020204" pitchFamily="34" charset="0"/>
                    </a:rPr>
                    <a:t>database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services/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rag/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</a:t>
                  </a:r>
                  <a:r>
                    <a:rPr lang="fr-FR" dirty="0" err="1">
                      <a:latin typeface="Abadi" panose="020B0604020104020204" pitchFamily="34" charset="0"/>
                    </a:rPr>
                    <a:t>parser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</a:t>
                  </a:r>
                  <a:r>
                    <a:rPr lang="fr-FR" dirty="0" err="1">
                      <a:latin typeface="Abadi" panose="020B0604020104020204" pitchFamily="34" charset="0"/>
                    </a:rPr>
                    <a:t>templates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    </a:t>
                  </a:r>
                  <a:r>
                    <a:rPr lang="fr-FR" dirty="0" err="1">
                      <a:latin typeface="Abadi" panose="020B0604020104020204" pitchFamily="34" charset="0"/>
                    </a:rPr>
                    <a:t>static</a:t>
                  </a:r>
                  <a:r>
                    <a:rPr lang="fr-FR" dirty="0">
                      <a:latin typeface="Abadi" panose="020B0604020104020204" pitchFamily="34" charset="0"/>
                    </a:rPr>
                    <a:t>/</a:t>
                  </a:r>
                </a:p>
              </p:txBody>
            </p:sp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445B1146-D023-28AC-7D50-3F96B7E711D3}"/>
                    </a:ext>
                  </a:extLst>
                </p:cNvPr>
                <p:cNvSpPr txBox="1"/>
                <p:nvPr/>
              </p:nvSpPr>
              <p:spPr>
                <a:xfrm>
                  <a:off x="2077989" y="1847701"/>
                  <a:ext cx="4719813" cy="42473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fr-FR" dirty="0">
                    <a:latin typeface="Abadi" panose="020B0604020104020204" pitchFamily="34" charset="0"/>
                  </a:endParaRP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Point d'entrée</a:t>
                  </a:r>
                </a:p>
                <a:p>
                  <a:endParaRPr lang="fr-FR" dirty="0">
                    <a:latin typeface="Abadi" panose="020B0604020104020204" pitchFamily="34" charset="0"/>
                  </a:endParaRP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</a:t>
                  </a:r>
                  <a:r>
                    <a:rPr lang="fr-FR" dirty="0" err="1">
                      <a:latin typeface="Abadi" panose="020B0604020104020204" pitchFamily="34" charset="0"/>
                    </a:rPr>
                    <a:t>Factory</a:t>
                  </a:r>
                  <a:r>
                    <a:rPr lang="fr-FR" dirty="0">
                      <a:latin typeface="Abadi" panose="020B0604020104020204" pitchFamily="34" charset="0"/>
                    </a:rPr>
                    <a:t> </a:t>
                  </a:r>
                  <a:r>
                    <a:rPr lang="fr-FR" dirty="0" err="1">
                      <a:latin typeface="Abadi" panose="020B0604020104020204" pitchFamily="34" charset="0"/>
                    </a:rPr>
                    <a:t>create_app</a:t>
                  </a:r>
                  <a:r>
                    <a:rPr lang="fr-FR" dirty="0">
                      <a:latin typeface="Abadi" panose="020B0604020104020204" pitchFamily="34" charset="0"/>
                    </a:rPr>
                    <a:t>(), init services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</a:t>
                  </a:r>
                  <a:r>
                    <a:rPr lang="fr-FR" dirty="0" err="1">
                      <a:latin typeface="Abadi" panose="020B0604020104020204" pitchFamily="34" charset="0"/>
                    </a:rPr>
                    <a:t>Blueprint</a:t>
                  </a:r>
                  <a:r>
                    <a:rPr lang="fr-FR" dirty="0">
                      <a:latin typeface="Abadi" panose="020B0604020104020204" pitchFamily="34" charset="0"/>
                    </a:rPr>
                    <a:t> "main" : route page (/)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</a:t>
                  </a:r>
                  <a:r>
                    <a:rPr lang="fr-FR" dirty="0" err="1">
                      <a:latin typeface="Abadi" panose="020B0604020104020204" pitchFamily="34" charset="0"/>
                    </a:rPr>
                    <a:t>Blueprint</a:t>
                  </a:r>
                  <a:r>
                    <a:rPr lang="fr-FR" dirty="0">
                      <a:latin typeface="Abadi" panose="020B0604020104020204" pitchFamily="34" charset="0"/>
                    </a:rPr>
                    <a:t> "ajax" : API interne (/ajax/*)</a:t>
                  </a:r>
                </a:p>
                <a:p>
                  <a:endParaRPr lang="fr-FR" dirty="0">
                    <a:latin typeface="Abadi" panose="020B0604020104020204" pitchFamily="34" charset="0"/>
                  </a:endParaRP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ORM </a:t>
                  </a:r>
                  <a:r>
                    <a:rPr lang="fr-FR" dirty="0" err="1">
                      <a:latin typeface="Abadi" panose="020B0604020104020204" pitchFamily="34" charset="0"/>
                    </a:rPr>
                    <a:t>SQLAlchemy</a:t>
                  </a:r>
                  <a:endParaRPr lang="fr-FR" dirty="0">
                    <a:latin typeface="Abadi" panose="020B0604020104020204" pitchFamily="34" charset="0"/>
                  </a:endParaRP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Schémas </a:t>
                  </a:r>
                  <a:r>
                    <a:rPr lang="fr-FR" dirty="0" err="1">
                      <a:latin typeface="Abadi" panose="020B0604020104020204" pitchFamily="34" charset="0"/>
                    </a:rPr>
                    <a:t>Pydantic</a:t>
                  </a:r>
                  <a:r>
                    <a:rPr lang="fr-FR" dirty="0">
                      <a:latin typeface="Abadi" panose="020B0604020104020204" pitchFamily="34" charset="0"/>
                    </a:rPr>
                    <a:t> (détachés de la session)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Gestion des connexions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Logique métier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</a:t>
                  </a:r>
                  <a:r>
                    <a:rPr lang="fr-FR" dirty="0" err="1">
                      <a:latin typeface="Abadi" panose="020B0604020104020204" pitchFamily="34" charset="0"/>
                    </a:rPr>
                    <a:t>Coeur</a:t>
                  </a:r>
                  <a:r>
                    <a:rPr lang="fr-FR" dirty="0">
                      <a:latin typeface="Abadi" panose="020B0604020104020204" pitchFamily="34" charset="0"/>
                    </a:rPr>
                    <a:t> du RAG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Extraction de contenu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</a:t>
                  </a:r>
                  <a:r>
                    <a:rPr lang="fr-FR" dirty="0" err="1">
                      <a:latin typeface="Abadi" panose="020B0604020104020204" pitchFamily="34" charset="0"/>
                    </a:rPr>
                    <a:t>Templates</a:t>
                  </a:r>
                  <a:r>
                    <a:rPr lang="fr-FR" dirty="0">
                      <a:latin typeface="Abadi" panose="020B0604020104020204" pitchFamily="34" charset="0"/>
                    </a:rPr>
                    <a:t> Jinja2</a:t>
                  </a:r>
                </a:p>
                <a:p>
                  <a:r>
                    <a:rPr lang="fr-FR" dirty="0">
                      <a:latin typeface="Abadi" panose="020B0604020104020204" pitchFamily="34" charset="0"/>
                    </a:rPr>
                    <a:t>← CSS, JS, images</a:t>
                  </a:r>
                </a:p>
              </p:txBody>
            </p:sp>
          </p:grpSp>
        </p:grpSp>
        <p:grpSp>
          <p:nvGrpSpPr>
            <p:cNvPr id="66" name="Groupe 65">
              <a:extLst>
                <a:ext uri="{FF2B5EF4-FFF2-40B4-BE49-F238E27FC236}">
                  <a16:creationId xmlns:a16="http://schemas.microsoft.com/office/drawing/2014/main" id="{AE0FD812-7235-0B74-70C2-DBBB7E646C5C}"/>
                </a:ext>
              </a:extLst>
            </p:cNvPr>
            <p:cNvGrpSpPr/>
            <p:nvPr/>
          </p:nvGrpSpPr>
          <p:grpSpPr>
            <a:xfrm>
              <a:off x="439421" y="2280920"/>
              <a:ext cx="260039" cy="3716020"/>
              <a:chOff x="645072" y="2158144"/>
              <a:chExt cx="1653495" cy="3716020"/>
            </a:xfrm>
          </p:grpSpPr>
          <p:cxnSp>
            <p:nvCxnSpPr>
              <p:cNvPr id="5" name="Connecteur droit 4">
                <a:extLst>
                  <a:ext uri="{FF2B5EF4-FFF2-40B4-BE49-F238E27FC236}">
                    <a16:creationId xmlns:a16="http://schemas.microsoft.com/office/drawing/2014/main" id="{BB4B0C93-693A-CFE6-0F7A-638E998B0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072" y="2158144"/>
                <a:ext cx="0" cy="371602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necteur droit 5">
                <a:extLst>
                  <a:ext uri="{FF2B5EF4-FFF2-40B4-BE49-F238E27FC236}">
                    <a16:creationId xmlns:a16="http://schemas.microsoft.com/office/drawing/2014/main" id="{1B02F84F-FB6C-ECFC-D378-D5D8AE03F8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5072" y="2328125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FA68C38F-DA77-EEF7-0FE8-ECB3BEBE6848}"/>
                  </a:ext>
                </a:extLst>
              </p:cNvPr>
              <p:cNvCxnSpPr/>
              <p:nvPr/>
            </p:nvCxnSpPr>
            <p:spPr>
              <a:xfrm flipH="1">
                <a:off x="645072" y="2609616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73570070-CE42-BAB1-BE20-F0BA6DB6CA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9824" y="2779831"/>
                <a:ext cx="0" cy="30943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C6EE18F9-3939-140C-B8A9-428E134D23FD}"/>
                  </a:ext>
                </a:extLst>
              </p:cNvPr>
              <p:cNvCxnSpPr/>
              <p:nvPr/>
            </p:nvCxnSpPr>
            <p:spPr>
              <a:xfrm flipH="1">
                <a:off x="1549826" y="287261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7D96D46E-1B82-7849-45B8-CA3D2BF9F280}"/>
                  </a:ext>
                </a:extLst>
              </p:cNvPr>
              <p:cNvCxnSpPr/>
              <p:nvPr/>
            </p:nvCxnSpPr>
            <p:spPr>
              <a:xfrm flipH="1">
                <a:off x="1549826" y="3150158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2E5559A9-3023-76CA-5788-230091667F68}"/>
                  </a:ext>
                </a:extLst>
              </p:cNvPr>
              <p:cNvCxnSpPr/>
              <p:nvPr/>
            </p:nvCxnSpPr>
            <p:spPr>
              <a:xfrm flipH="1">
                <a:off x="1549826" y="342900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692C993B-91FD-A0A4-25DB-61CBDD8225D8}"/>
                  </a:ext>
                </a:extLst>
              </p:cNvPr>
              <p:cNvCxnSpPr/>
              <p:nvPr/>
            </p:nvCxnSpPr>
            <p:spPr>
              <a:xfrm flipH="1">
                <a:off x="1577802" y="5855748"/>
                <a:ext cx="72076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189FE4DA-E859-FDF4-57DE-5B9F6D2F633A}"/>
                  </a:ext>
                </a:extLst>
              </p:cNvPr>
              <p:cNvCxnSpPr/>
              <p:nvPr/>
            </p:nvCxnSpPr>
            <p:spPr>
              <a:xfrm flipH="1">
                <a:off x="1549826" y="396973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CE16CADA-7C78-3112-CAEC-5510ECB1A2BE}"/>
                  </a:ext>
                </a:extLst>
              </p:cNvPr>
              <p:cNvCxnSpPr/>
              <p:nvPr/>
            </p:nvCxnSpPr>
            <p:spPr>
              <a:xfrm flipH="1">
                <a:off x="1549826" y="4230402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E3D2607E-F58B-BF4D-7984-4EDD890EF265}"/>
                  </a:ext>
                </a:extLst>
              </p:cNvPr>
              <p:cNvCxnSpPr/>
              <p:nvPr/>
            </p:nvCxnSpPr>
            <p:spPr>
              <a:xfrm flipH="1">
                <a:off x="1549826" y="451456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A7A81ECF-AC56-50B0-3869-D81236152EBD}"/>
                  </a:ext>
                </a:extLst>
              </p:cNvPr>
              <p:cNvCxnSpPr/>
              <p:nvPr/>
            </p:nvCxnSpPr>
            <p:spPr>
              <a:xfrm flipH="1">
                <a:off x="1549826" y="4805712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cteur droit 58">
                <a:extLst>
                  <a:ext uri="{FF2B5EF4-FFF2-40B4-BE49-F238E27FC236}">
                    <a16:creationId xmlns:a16="http://schemas.microsoft.com/office/drawing/2014/main" id="{0175254D-5834-E7C4-88F2-2C43C557703A}"/>
                  </a:ext>
                </a:extLst>
              </p:cNvPr>
              <p:cNvCxnSpPr/>
              <p:nvPr/>
            </p:nvCxnSpPr>
            <p:spPr>
              <a:xfrm flipH="1">
                <a:off x="1549826" y="508987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C8C3D86A-9B95-A69B-D955-97674B881640}"/>
                  </a:ext>
                </a:extLst>
              </p:cNvPr>
              <p:cNvCxnSpPr/>
              <p:nvPr/>
            </p:nvCxnSpPr>
            <p:spPr>
              <a:xfrm flipH="1">
                <a:off x="1549826" y="5345092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60">
                <a:extLst>
                  <a:ext uri="{FF2B5EF4-FFF2-40B4-BE49-F238E27FC236}">
                    <a16:creationId xmlns:a16="http://schemas.microsoft.com/office/drawing/2014/main" id="{BECB107E-AF05-D4D8-3A9E-0E8039672315}"/>
                  </a:ext>
                </a:extLst>
              </p:cNvPr>
              <p:cNvCxnSpPr/>
              <p:nvPr/>
            </p:nvCxnSpPr>
            <p:spPr>
              <a:xfrm flipH="1">
                <a:off x="1549826" y="5629250"/>
                <a:ext cx="72076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9" name="Image 78" descr="Une image contenant texte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039A1AA-D287-EFEA-897B-0BE83237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233"/>
          <a:stretch>
            <a:fillRect/>
          </a:stretch>
        </p:blipFill>
        <p:spPr>
          <a:xfrm>
            <a:off x="7430948" y="2193026"/>
            <a:ext cx="4462920" cy="4032224"/>
          </a:xfrm>
          <a:prstGeom prst="rect">
            <a:avLst/>
          </a:prstGeom>
          <a:ln w="25400">
            <a:solidFill>
              <a:srgbClr val="C2443D"/>
            </a:solidFill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31699C-FCBE-746A-2D0B-CF6FEC80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95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6CCF-7E8E-7D55-85C0-07E38512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EADFA70-C779-C521-4501-FC6383CD0869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D7D4FED-DDCF-851D-3E84-6F3823B8C4B1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de l’app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E5CFD66-6D7B-C8B3-E49C-1F14B6F8115F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Front et Back Ends, BDD,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routing</a:t>
            </a:r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EF9D2-076F-E166-58B9-CA895939F596}"/>
              </a:ext>
            </a:extLst>
          </p:cNvPr>
          <p:cNvSpPr/>
          <p:nvPr/>
        </p:nvSpPr>
        <p:spPr>
          <a:xfrm>
            <a:off x="12482154" y="5342315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D096B2-1FD7-443C-E2C6-3F7AA564FCC0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830489E-BEB2-BF20-C5C3-4DCBAA106F81}"/>
              </a:ext>
            </a:extLst>
          </p:cNvPr>
          <p:cNvGrpSpPr/>
          <p:nvPr/>
        </p:nvGrpSpPr>
        <p:grpSpPr>
          <a:xfrm>
            <a:off x="8749078" y="5343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17E5C8A-FBB6-C901-2E45-538AAEDD5A2D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70A5BB0-334C-C41F-84E7-E5D49B4F5FFD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1CEA7D6-89C9-D7BE-BA48-1941D9CC040D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63C9C2EF-4A06-4CF7-5D34-D76C85201A40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C4A09B5-14DA-1CC4-0F68-1256B10A58FF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98EE426B-6672-1584-7EA6-2410CE65F605}"/>
              </a:ext>
            </a:extLst>
          </p:cNvPr>
          <p:cNvGrpSpPr/>
          <p:nvPr/>
        </p:nvGrpSpPr>
        <p:grpSpPr>
          <a:xfrm>
            <a:off x="8749078" y="652771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3B44C797-3594-CEFA-4024-8F98B9B89CA3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95D98965-14B6-AE8D-B347-6ED5020C1F1F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9C70BD-5712-9040-1200-9B462DD8E887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logo de RAGME">
            <a:extLst>
              <a:ext uri="{FF2B5EF4-FFF2-40B4-BE49-F238E27FC236}">
                <a16:creationId xmlns:a16="http://schemas.microsoft.com/office/drawing/2014/main" id="{4A2E5DA9-C001-52E6-E28D-550389D32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620" y="535485"/>
            <a:ext cx="1755443" cy="699233"/>
          </a:xfrm>
          <a:prstGeom prst="rect">
            <a:avLst/>
          </a:prstGeom>
        </p:spPr>
      </p:pic>
      <p:pic>
        <p:nvPicPr>
          <p:cNvPr id="55" name="Image 54" descr="Une image contenant texte, diagramme, Pla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7486AF3-E591-B951-5955-8FF8E3E69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07" y="1697911"/>
            <a:ext cx="8097586" cy="5098887"/>
          </a:xfrm>
          <a:prstGeom prst="rect">
            <a:avLst/>
          </a:prstGeom>
          <a:ln w="25400">
            <a:solidFill>
              <a:srgbClr val="C2443D"/>
            </a:solidFill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4C3BB1-C8FC-CFC4-8220-92101B73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87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8AA7-F590-C77C-B289-260CE1FB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F1760C4-CC93-AAAB-E878-447222DEAEFC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556FFA1-E001-3E23-927B-50B8F3061B9E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de l’app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1B9BA98-86FE-EAF2-5731-A0E5F304363A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Front et Back Ends, BDD, </a:t>
            </a:r>
            <a:r>
              <a:rPr lang="fr-FR" sz="2400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routing</a:t>
            </a:r>
            <a:endParaRPr lang="fr-FR" sz="2400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96D1FF-1851-EBE3-44ED-41D9BFFF3935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A14B6F8-467E-9B22-3FD5-06E4C48FB836}"/>
              </a:ext>
            </a:extLst>
          </p:cNvPr>
          <p:cNvGrpSpPr/>
          <p:nvPr/>
        </p:nvGrpSpPr>
        <p:grpSpPr>
          <a:xfrm>
            <a:off x="8749078" y="5343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EE8B4906-F5E7-61F8-6047-BDE0774163E8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767C952-7E15-E993-3E0F-476CE8E4D525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F1EF2C5-A390-EC92-83C1-92BE8FB9E97D}"/>
              </a:ext>
            </a:extLst>
          </p:cNvPr>
          <p:cNvGrpSpPr/>
          <p:nvPr/>
        </p:nvGrpSpPr>
        <p:grpSpPr>
          <a:xfrm>
            <a:off x="8749078" y="358092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C484DE80-C5C6-31C3-014C-29816E4AE764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3E0CDAE-AED8-B5EA-A650-7510CC85B327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8C8A0260-9DAE-A0F5-5BB3-BB6A51455849}"/>
              </a:ext>
            </a:extLst>
          </p:cNvPr>
          <p:cNvGrpSpPr/>
          <p:nvPr/>
        </p:nvGrpSpPr>
        <p:grpSpPr>
          <a:xfrm>
            <a:off x="8749078" y="652771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07F5614D-B3F8-3C68-8A52-68C055992CD2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3340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ED9AD047-593C-2183-0E2F-902A26E8112E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E7ABC6B-ADA1-993B-09EB-0FD16E179A60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logo de RAGME">
            <a:extLst>
              <a:ext uri="{FF2B5EF4-FFF2-40B4-BE49-F238E27FC236}">
                <a16:creationId xmlns:a16="http://schemas.microsoft.com/office/drawing/2014/main" id="{D6B3E3AF-54CA-7719-259F-E03F0DD1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620" y="535485"/>
            <a:ext cx="1755443" cy="699233"/>
          </a:xfrm>
          <a:prstGeom prst="rect">
            <a:avLst/>
          </a:prstGeom>
        </p:spPr>
      </p:pic>
      <p:pic>
        <p:nvPicPr>
          <p:cNvPr id="5" name="Image 4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721348E7-2868-4084-3B66-94B0A00B6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787" y="1623259"/>
            <a:ext cx="9099699" cy="5094753"/>
          </a:xfrm>
          <a:prstGeom prst="rect">
            <a:avLst/>
          </a:prstGeom>
          <a:ln w="25400">
            <a:solidFill>
              <a:srgbClr val="C2443D"/>
            </a:solidFill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090902-7733-F4F3-6CAC-7095C316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32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1AB0-6D0B-3BC9-3E1C-75ABE7E4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A8D5F85-56C3-31E3-6A92-28B302752999}"/>
              </a:ext>
            </a:extLst>
          </p:cNvPr>
          <p:cNvSpPr/>
          <p:nvPr/>
        </p:nvSpPr>
        <p:spPr>
          <a:xfrm>
            <a:off x="-38579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A5DA3AE-D90C-9241-2A7E-D22B3576D41C}"/>
              </a:ext>
            </a:extLst>
          </p:cNvPr>
          <p:cNvSpPr txBox="1"/>
          <p:nvPr/>
        </p:nvSpPr>
        <p:spPr>
          <a:xfrm>
            <a:off x="891251" y="423437"/>
            <a:ext cx="72341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Deuxième partie du TD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C6A45A1-33B3-B354-A242-2C439A131535}"/>
              </a:ext>
            </a:extLst>
          </p:cNvPr>
          <p:cNvSpPr txBox="1"/>
          <p:nvPr/>
        </p:nvSpPr>
        <p:spPr>
          <a:xfrm>
            <a:off x="891251" y="1162101"/>
            <a:ext cx="653969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FR" sz="2400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Implémentation guidée sur un projet à trous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9DF64-1296-EF1F-FDED-6E1BE5FF1756}"/>
              </a:ext>
            </a:extLst>
          </p:cNvPr>
          <p:cNvSpPr/>
          <p:nvPr/>
        </p:nvSpPr>
        <p:spPr>
          <a:xfrm flipH="1">
            <a:off x="8595211" y="236773"/>
            <a:ext cx="45719" cy="1206446"/>
          </a:xfrm>
          <a:prstGeom prst="rect">
            <a:avLst/>
          </a:prstGeom>
          <a:solidFill>
            <a:srgbClr val="BAC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6A31F49-766E-BED1-14E7-3EF4911674D2}"/>
              </a:ext>
            </a:extLst>
          </p:cNvPr>
          <p:cNvGrpSpPr/>
          <p:nvPr/>
        </p:nvGrpSpPr>
        <p:grpSpPr>
          <a:xfrm>
            <a:off x="8749078" y="5343"/>
            <a:ext cx="2924762" cy="369332"/>
            <a:chOff x="8749078" y="358092"/>
            <a:chExt cx="2924762" cy="36933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AA0F081-D73B-B79E-A47F-1ABD81B710B7}"/>
                </a:ext>
              </a:extLst>
            </p:cNvPr>
            <p:cNvSpPr/>
            <p:nvPr/>
          </p:nvSpPr>
          <p:spPr>
            <a:xfrm>
              <a:off x="8749078" y="43274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A4BE5B9-0EB1-7EE2-9401-FEC981B559C4}"/>
                </a:ext>
              </a:extLst>
            </p:cNvPr>
            <p:cNvSpPr txBox="1"/>
            <p:nvPr/>
          </p:nvSpPr>
          <p:spPr>
            <a:xfrm>
              <a:off x="8969105" y="358092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Présentation de l’app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590D16D-5D0B-F078-2830-9041822D14A5}"/>
              </a:ext>
            </a:extLst>
          </p:cNvPr>
          <p:cNvGrpSpPr/>
          <p:nvPr/>
        </p:nvGrpSpPr>
        <p:grpSpPr>
          <a:xfrm>
            <a:off x="8749078" y="99083"/>
            <a:ext cx="2924762" cy="369332"/>
            <a:chOff x="8749078" y="645623"/>
            <a:chExt cx="2924762" cy="36933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FCE79C19-35E3-78EB-7A4C-E55B07F817F4}"/>
                </a:ext>
              </a:extLst>
            </p:cNvPr>
            <p:cNvSpPr/>
            <p:nvPr/>
          </p:nvSpPr>
          <p:spPr>
            <a:xfrm>
              <a:off x="8749078" y="723850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ACDD15E-D68E-8DD5-4428-90391BB4ED55}"/>
                </a:ext>
              </a:extLst>
            </p:cNvPr>
            <p:cNvSpPr txBox="1"/>
            <p:nvPr/>
          </p:nvSpPr>
          <p:spPr>
            <a:xfrm>
              <a:off x="8969105" y="645623"/>
              <a:ext cx="270473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Architecture de l’app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46D8E09E-495F-2743-962C-AF48CF5A133B}"/>
              </a:ext>
            </a:extLst>
          </p:cNvPr>
          <p:cNvGrpSpPr/>
          <p:nvPr/>
        </p:nvGrpSpPr>
        <p:grpSpPr>
          <a:xfrm>
            <a:off x="8749078" y="393762"/>
            <a:ext cx="3144789" cy="369332"/>
            <a:chOff x="8749078" y="940302"/>
            <a:chExt cx="3144789" cy="36933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FA9FF64-1686-94C9-91B5-705E66F543AC}"/>
                </a:ext>
              </a:extLst>
            </p:cNvPr>
            <p:cNvSpPr/>
            <p:nvPr/>
          </p:nvSpPr>
          <p:spPr>
            <a:xfrm>
              <a:off x="8749078" y="1014955"/>
              <a:ext cx="220027" cy="220027"/>
            </a:xfrm>
            <a:prstGeom prst="ellipse">
              <a:avLst/>
            </a:prstGeom>
            <a:solidFill>
              <a:srgbClr val="C24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9633CB9-E37A-8C76-D247-2DE13C938DB7}"/>
                </a:ext>
              </a:extLst>
            </p:cNvPr>
            <p:cNvSpPr txBox="1"/>
            <p:nvPr/>
          </p:nvSpPr>
          <p:spPr>
            <a:xfrm>
              <a:off x="8969105" y="940302"/>
              <a:ext cx="29247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dirty="0"/>
                <a:t>Deuxième partie du TD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233A35D-341E-A001-5420-5948F214F8AC}"/>
              </a:ext>
            </a:extLst>
          </p:cNvPr>
          <p:cNvSpPr/>
          <p:nvPr/>
        </p:nvSpPr>
        <p:spPr>
          <a:xfrm>
            <a:off x="8640928" y="0"/>
            <a:ext cx="3551071" cy="41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905161-74DB-74DE-FAAD-F58534404981}"/>
              </a:ext>
            </a:extLst>
          </p:cNvPr>
          <p:cNvSpPr txBox="1"/>
          <p:nvPr/>
        </p:nvSpPr>
        <p:spPr>
          <a:xfrm>
            <a:off x="357284" y="1869505"/>
            <a:ext cx="9718972" cy="520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/>
              <a:t>Objectif : Compléter le projet à trous (40 questions/étapes)</a:t>
            </a:r>
          </a:p>
          <a:p>
            <a:pPr>
              <a:lnSpc>
                <a:spcPct val="150000"/>
              </a:lnSpc>
            </a:pPr>
            <a:endParaRPr lang="fr-FR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Créer des routes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Configurer la base de données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Configurer les services pour la récupération des données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Communication API interne (AJAX) : lecture et écriture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FR" sz="2800" dirty="0"/>
              <a:t>Téléverser des fichiers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lang="fr-FR" sz="2800" dirty="0"/>
          </a:p>
        </p:txBody>
      </p:sp>
      <p:pic>
        <p:nvPicPr>
          <p:cNvPr id="7" name="Image 6" descr="logo de RAGME">
            <a:extLst>
              <a:ext uri="{FF2B5EF4-FFF2-40B4-BE49-F238E27FC236}">
                <a16:creationId xmlns:a16="http://schemas.microsoft.com/office/drawing/2014/main" id="{623A350F-3A15-B437-102B-61594C288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673" y="2648254"/>
            <a:ext cx="4639767" cy="1848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E601B8-0801-BC4E-654C-4089967CC51F}"/>
              </a:ext>
            </a:extLst>
          </p:cNvPr>
          <p:cNvSpPr/>
          <p:nvPr/>
        </p:nvSpPr>
        <p:spPr>
          <a:xfrm>
            <a:off x="0" y="7070352"/>
            <a:ext cx="12192000" cy="369332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1CE49F-5F46-620F-7DCD-85E25673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5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EB79-0570-71CB-95A2-D06B8D9C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30BD930-24A8-4853-F7D5-3B6FAC8D0509}"/>
              </a:ext>
            </a:extLst>
          </p:cNvPr>
          <p:cNvSpPr/>
          <p:nvPr/>
        </p:nvSpPr>
        <p:spPr>
          <a:xfrm>
            <a:off x="0" y="3530964"/>
            <a:ext cx="12192000" cy="3327036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EC0ED8B-D147-67FF-0415-CA449AFF525F}"/>
              </a:ext>
            </a:extLst>
          </p:cNvPr>
          <p:cNvSpPr txBox="1"/>
          <p:nvPr/>
        </p:nvSpPr>
        <p:spPr>
          <a:xfrm>
            <a:off x="0" y="2653801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Merci de nous avoir écouté</a:t>
            </a:r>
          </a:p>
          <a:p>
            <a:pPr algn="ctr"/>
            <a:r>
              <a:rPr lang="fr-FR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 questions ?</a:t>
            </a:r>
          </a:p>
          <a:p>
            <a:pPr algn="ctr"/>
            <a:r>
              <a:rPr lang="fr-FR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 travail 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BAE4D-FD45-8533-1A4C-192B1E42F7DB}"/>
              </a:ext>
            </a:extLst>
          </p:cNvPr>
          <p:cNvSpPr/>
          <p:nvPr/>
        </p:nvSpPr>
        <p:spPr>
          <a:xfrm>
            <a:off x="-1406871" y="358092"/>
            <a:ext cx="1126571" cy="105402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516BAC8-1B7F-72E4-A026-82C88312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303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39FB-DF1E-F77B-8CDD-581E1195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BC7995-2956-E9A2-6451-D57C87CAE189}"/>
              </a:ext>
            </a:extLst>
          </p:cNvPr>
          <p:cNvSpPr/>
          <p:nvPr/>
        </p:nvSpPr>
        <p:spPr>
          <a:xfrm>
            <a:off x="0" y="3530964"/>
            <a:ext cx="12192000" cy="3327036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932824A-D7BF-E224-7A61-5EAEAB9AD867}"/>
              </a:ext>
            </a:extLst>
          </p:cNvPr>
          <p:cNvSpPr txBox="1"/>
          <p:nvPr/>
        </p:nvSpPr>
        <p:spPr>
          <a:xfrm>
            <a:off x="0" y="2653801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Annexes</a:t>
            </a:r>
            <a:endParaRPr lang="fr-FR" sz="54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1D7B03-94B2-9E4E-B834-9B757B4B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441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5CDE-1E2B-5082-90CF-4194DBD2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E5078F-3BB1-F30E-7833-76067BCBB069}"/>
              </a:ext>
            </a:extLst>
          </p:cNvPr>
          <p:cNvSpPr/>
          <p:nvPr/>
        </p:nvSpPr>
        <p:spPr>
          <a:xfrm>
            <a:off x="0" y="4582160"/>
            <a:ext cx="12192000" cy="22758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 descr="Une image contenant obscurité, noir, noir et blanc, léger&#10;&#10;Le contenu généré par l’IA peut être incorrect.">
            <a:extLst>
              <a:ext uri="{FF2B5EF4-FFF2-40B4-BE49-F238E27FC236}">
                <a16:creationId xmlns:a16="http://schemas.microsoft.com/office/drawing/2014/main" id="{0D4CE0EA-65DC-39C6-2C0A-566154CA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022" y="534890"/>
            <a:ext cx="9139953" cy="364065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E32D69D-7092-3AB8-12E3-949C9755D755}"/>
              </a:ext>
            </a:extLst>
          </p:cNvPr>
          <p:cNvSpPr txBox="1"/>
          <p:nvPr/>
        </p:nvSpPr>
        <p:spPr>
          <a:xfrm>
            <a:off x="-1" y="3768923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Diagrammes UML </a:t>
            </a:r>
            <a:r>
              <a:rPr lang="fr-FR" sz="5400" b="1" dirty="0" err="1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RagMe</a:t>
            </a:r>
            <a:endParaRPr lang="fr-FR" sz="5400" b="1" dirty="0">
              <a:solidFill>
                <a:srgbClr val="33405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fr-FR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grand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9AB1DFD-B168-DDED-2A0C-129487FE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019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7BD8-19ED-AC5B-69D2-A339429F9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AD8FB216-CACF-9F3A-BF93-F09236376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60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789C62-47DB-AA4E-8AF9-2A91875970C1}"/>
              </a:ext>
            </a:extLst>
          </p:cNvPr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F7B770-9916-8F42-FAB0-A5D3CA2AAE27}"/>
              </a:ext>
            </a:extLst>
          </p:cNvPr>
          <p:cNvSpPr/>
          <p:nvPr/>
        </p:nvSpPr>
        <p:spPr>
          <a:xfrm>
            <a:off x="0" y="2017379"/>
            <a:ext cx="4828478" cy="162907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Pipeline RAG complète :</a:t>
            </a:r>
          </a:p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Du message à la réponse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D353F51-D04B-7F08-5BA7-ABB1D22E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38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C16A3-42DD-3007-D1FC-E290A29B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diagramme, Pla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06AD7A0-99DA-A00A-3988-E553EB9BE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33" y="0"/>
            <a:ext cx="1089124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D503B6-5E7D-61F3-AE7F-6C2B49245B7B}"/>
              </a:ext>
            </a:extLst>
          </p:cNvPr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5B48B-FBCB-D04D-1BDA-6492E278B79B}"/>
              </a:ext>
            </a:extLst>
          </p:cNvPr>
          <p:cNvSpPr/>
          <p:nvPr/>
        </p:nvSpPr>
        <p:spPr>
          <a:xfrm>
            <a:off x="172122" y="177821"/>
            <a:ext cx="3991087" cy="1177642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Architecture globale de </a:t>
            </a:r>
            <a:r>
              <a:rPr lang="fr-FR" sz="2800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RagMe</a:t>
            </a:r>
            <a:endParaRPr lang="fr-FR" sz="28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D112692-28F3-3C2B-620A-50BE766C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388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0C04E-A919-9EE4-FC3D-B4268C12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5FE3567A-2F9A-D085-75B4-E91F533A3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3560"/>
            <a:ext cx="12192000" cy="23708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2AEAD2-61D0-AD1C-0519-7E62C4CDAA77}"/>
              </a:ext>
            </a:extLst>
          </p:cNvPr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C89CB-35C7-B1F3-9470-0E0DFED91DC4}"/>
              </a:ext>
            </a:extLst>
          </p:cNvPr>
          <p:cNvSpPr/>
          <p:nvPr/>
        </p:nvSpPr>
        <p:spPr>
          <a:xfrm>
            <a:off x="3998259" y="635157"/>
            <a:ext cx="4195482" cy="1064687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Toutes les routes de l’application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5AA251-9DE1-FCC6-047A-6DD8EF7F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956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E2D2-AA14-662C-F389-8491B1FC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B54F567B-7F8E-C7FF-360D-1301FFFBF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8" y="13974"/>
            <a:ext cx="8835832" cy="68440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58ED7C-C4D5-7F6F-7133-A90F9031F619}"/>
              </a:ext>
            </a:extLst>
          </p:cNvPr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FFDA40-4AD3-DB0C-9B49-CF5075B02792}"/>
              </a:ext>
            </a:extLst>
          </p:cNvPr>
          <p:cNvSpPr/>
          <p:nvPr/>
        </p:nvSpPr>
        <p:spPr>
          <a:xfrm>
            <a:off x="0" y="1576475"/>
            <a:ext cx="4195482" cy="1064687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Communication </a:t>
            </a:r>
            <a:r>
              <a:rPr lang="fr-FR" sz="2800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FrontEnd</a:t>
            </a:r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fr-FR" sz="2800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BackEnd</a:t>
            </a:r>
            <a:endParaRPr lang="fr-FR" sz="28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5872C53-8792-F530-E2BA-FB9D3E63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32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D65E8-7948-CC1A-7039-26BC7AAA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A434D-459C-A50B-0B3E-7DAFEE47F77B}"/>
              </a:ext>
            </a:extLst>
          </p:cNvPr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6FF0D825-435A-C5E4-A02E-0AA226D4B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6374"/>
            <a:ext cx="12192000" cy="25888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709AD9-9E91-E0B7-BD08-98C9D836F8A0}"/>
              </a:ext>
            </a:extLst>
          </p:cNvPr>
          <p:cNvSpPr/>
          <p:nvPr/>
        </p:nvSpPr>
        <p:spPr>
          <a:xfrm>
            <a:off x="3998259" y="635157"/>
            <a:ext cx="4195482" cy="1064687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Base de données</a:t>
            </a:r>
            <a:b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fr-FR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 + vectorielle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754B4AB-66D1-FAE2-481F-A6CEFFBC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1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1BE7-2A3B-A4EA-87AA-550AF376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D11312-D65A-CBB3-08AE-56D2BBCAA65F}"/>
              </a:ext>
            </a:extLst>
          </p:cNvPr>
          <p:cNvSpPr/>
          <p:nvPr/>
        </p:nvSpPr>
        <p:spPr>
          <a:xfrm>
            <a:off x="0" y="4582160"/>
            <a:ext cx="12192000" cy="2275840"/>
          </a:xfrm>
          <a:prstGeom prst="rect">
            <a:avLst/>
          </a:prstGeom>
          <a:solidFill>
            <a:srgbClr val="C244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F153F52-F167-6618-7951-512CF2868DDD}"/>
              </a:ext>
            </a:extLst>
          </p:cNvPr>
          <p:cNvSpPr txBox="1"/>
          <p:nvPr/>
        </p:nvSpPr>
        <p:spPr>
          <a:xfrm>
            <a:off x="-1" y="376892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33405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B84A21-A98F-A1D0-5DBD-7F1B4322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27FE-4195-4009-A747-F1B995AB431B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91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</TotalTime>
  <Words>3788</Words>
  <Application>Microsoft Office PowerPoint</Application>
  <PresentationFormat>Grand écran</PresentationFormat>
  <Paragraphs>849</Paragraphs>
  <Slides>41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9" baseType="lpstr">
      <vt:lpstr>Abadi</vt:lpstr>
      <vt:lpstr>Aharoni</vt:lpstr>
      <vt:lpstr>Aptos</vt:lpstr>
      <vt:lpstr>Aptos Display</vt:lpstr>
      <vt:lpstr>Arial</vt:lpstr>
      <vt:lpstr>Courier New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Borot Olivier</dc:creator>
  <cp:lastModifiedBy>Borot Olivier</cp:lastModifiedBy>
  <cp:revision>392</cp:revision>
  <dcterms:created xsi:type="dcterms:W3CDTF">2026-02-18T16:39:57Z</dcterms:created>
  <dcterms:modified xsi:type="dcterms:W3CDTF">2026-02-23T19:35:10Z</dcterms:modified>
</cp:coreProperties>
</file>